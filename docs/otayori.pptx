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2" r:id="rId6"/>
    <p:sldId id="264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9" d="100"/>
          <a:sy n="39" d="100"/>
        </p:scale>
        <p:origin x="60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BE4DF0E-15E1-47A0-9747-7EB15150671E}"/>
              </a:ext>
            </a:extLst>
          </p:cNvPr>
          <p:cNvSpPr>
            <a:spLocks noGrp="1"/>
          </p:cNvSpPr>
          <p:nvPr/>
        </p:nvSpPr>
        <p:spPr>
          <a:xfrm>
            <a:off x="457200" y="1695450"/>
            <a:ext cx="8763000" cy="195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4350" b="1">
                <a:solidFill>
                  <a:srgbClr val="0A0A0A"/>
                </a:solidFill>
              </a:defRPr>
            </a:pPr>
            <a:r>
              <a:rPr lang="en-US" sz="9600" b="1" dirty="0" err="1">
                <a:solidFill>
                  <a:srgbClr val="0A0A0A"/>
                </a:solidFill>
              </a:rPr>
              <a:t>otayori</a:t>
            </a:r>
            <a:endParaRPr sz="9600" b="1" dirty="0">
              <a:solidFill>
                <a:srgbClr val="0A0A0A"/>
              </a:solidFill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BEFA61A3-79A8-4EE6-98F4-53F55E245C78}"/>
              </a:ext>
            </a:extLst>
          </p:cNvPr>
          <p:cNvSpPr>
            <a:spLocks noGrp="1"/>
          </p:cNvSpPr>
          <p:nvPr/>
        </p:nvSpPr>
        <p:spPr>
          <a:xfrm>
            <a:off x="495300" y="4000500"/>
            <a:ext cx="723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0">
                <a:solidFill>
                  <a:srgbClr val="666B73"/>
                </a:solidFill>
              </a:defRPr>
            </a:pPr>
            <a:r>
              <a:rPr sz="1800" b="0">
                <a:solidFill>
                  <a:srgbClr val="666B73"/>
                </a:solidFill>
              </a:rPr>
              <a:t>気持ちを受け取り、AI DJが言葉と音楽で返す。</a:t>
            </a:r>
          </a:p>
        </p:txBody>
      </p:sp>
      <p:sp>
        <p:nvSpPr>
          <p:cNvPr id="4" name="accent">
            <a:extLst>
              <a:ext uri="{FF2B5EF4-FFF2-40B4-BE49-F238E27FC236}">
                <a16:creationId xmlns:a16="http://schemas.microsoft.com/office/drawing/2014/main" id="{5AC014A2-9BF3-44F0-B3A9-1E706AC7D440}"/>
              </a:ext>
            </a:extLst>
          </p:cNvPr>
          <p:cNvSpPr>
            <a:spLocks noGrp="1"/>
          </p:cNvSpPr>
          <p:nvPr/>
        </p:nvSpPr>
        <p:spPr>
          <a:xfrm>
            <a:off x="457200" y="5314950"/>
            <a:ext cx="11277600" cy="6096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ja-JP" altLang="en-US" dirty="0"/>
          </a:p>
        </p:txBody>
      </p:sp>
      <p:sp>
        <p:nvSpPr>
          <p:cNvPr id="5" name="accent-text">
            <a:extLst>
              <a:ext uri="{FF2B5EF4-FFF2-40B4-BE49-F238E27FC236}">
                <a16:creationId xmlns:a16="http://schemas.microsoft.com/office/drawing/2014/main" id="{0F19892D-6B00-4C52-8F68-5C50CAFB4AA5}"/>
              </a:ext>
            </a:extLst>
          </p:cNvPr>
          <p:cNvSpPr>
            <a:spLocks noGrp="1"/>
          </p:cNvSpPr>
          <p:nvPr/>
        </p:nvSpPr>
        <p:spPr>
          <a:xfrm>
            <a:off x="685800" y="5410200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RADIO DJ AI  ×  LETTER  ×  MUSIC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D1D47F56-7BCF-4613-BFA4-A774C52554E4}"/>
              </a:ext>
            </a:extLst>
          </p:cNvPr>
          <p:cNvSpPr>
            <a:spLocks noGrp="1"/>
          </p:cNvSpPr>
          <p:nvPr/>
        </p:nvSpPr>
        <p:spPr>
          <a:xfrm>
            <a:off x="11334750" y="61912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050" b="1">
                <a:solidFill>
                  <a:srgbClr val="666B73"/>
                </a:solidFill>
              </a:defRPr>
            </a:pPr>
            <a:r>
              <a:rPr sz="1050" b="1">
                <a:solidFill>
                  <a:srgbClr val="666B73"/>
                </a:solidFill>
              </a:rPr>
              <a:t>01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DB39693-97B6-5912-10C2-EB47FC52F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796" y="-712071"/>
            <a:ext cx="4360146" cy="436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21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ge">
            <a:extLst>
              <a:ext uri="{FF2B5EF4-FFF2-40B4-BE49-F238E27FC236}">
                <a16:creationId xmlns:a16="http://schemas.microsoft.com/office/drawing/2014/main" id="{4178EA79-B37D-42B7-920C-1F9063C09D40}"/>
              </a:ext>
            </a:extLst>
          </p:cNvPr>
          <p:cNvSpPr>
            <a:spLocks noGrp="1"/>
          </p:cNvSpPr>
          <p:nvPr/>
        </p:nvSpPr>
        <p:spPr>
          <a:xfrm>
            <a:off x="11334750" y="61912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050" b="1">
                <a:solidFill>
                  <a:srgbClr val="666B73"/>
                </a:solidFill>
              </a:defRPr>
            </a:pPr>
            <a:r>
              <a:rPr sz="1050" b="1">
                <a:solidFill>
                  <a:srgbClr val="666B73"/>
                </a:solidFill>
              </a:rPr>
              <a:t>02</a:t>
            </a:r>
          </a:p>
        </p:txBody>
      </p:sp>
      <p:sp>
        <p:nvSpPr>
          <p:cNvPr id="3" name="rule">
            <a:extLst>
              <a:ext uri="{FF2B5EF4-FFF2-40B4-BE49-F238E27FC236}">
                <a16:creationId xmlns:a16="http://schemas.microsoft.com/office/drawing/2014/main" id="{2995D8D0-18D0-4923-8623-A7595EA79F59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11277600" cy="19050"/>
          </a:xfrm>
          <a:prstGeom prst="rect">
            <a:avLst/>
          </a:prstGeom>
          <a:solidFill>
            <a:srgbClr val="0A0A0A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label-PAIN">
            <a:extLst>
              <a:ext uri="{FF2B5EF4-FFF2-40B4-BE49-F238E27FC236}">
                <a16:creationId xmlns:a16="http://schemas.microsoft.com/office/drawing/2014/main" id="{D98799C6-CEDC-4AE8-A8FB-980D372AF790}"/>
              </a:ext>
            </a:extLst>
          </p:cNvPr>
          <p:cNvSpPr>
            <a:spLocks noGrp="1"/>
          </p:cNvSpPr>
          <p:nvPr/>
        </p:nvSpPr>
        <p:spPr>
          <a:xfrm>
            <a:off x="476250" y="152400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PAIN</a:t>
            </a:r>
          </a:p>
        </p:txBody>
      </p:sp>
      <p:sp>
        <p:nvSpPr>
          <p:cNvPr id="5" name="quote">
            <a:extLst>
              <a:ext uri="{FF2B5EF4-FFF2-40B4-BE49-F238E27FC236}">
                <a16:creationId xmlns:a16="http://schemas.microsoft.com/office/drawing/2014/main" id="{A9CB0DE4-9E1F-4A99-B464-41F2D2FFA5CA}"/>
              </a:ext>
            </a:extLst>
          </p:cNvPr>
          <p:cNvSpPr>
            <a:spLocks noGrp="1"/>
          </p:cNvSpPr>
          <p:nvPr/>
        </p:nvSpPr>
        <p:spPr>
          <a:xfrm>
            <a:off x="353786" y="2428875"/>
            <a:ext cx="6872924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225" b="1">
                <a:solidFill>
                  <a:srgbClr val="0A0A0A"/>
                </a:solidFill>
              </a:defRPr>
            </a:pPr>
            <a:r>
              <a:rPr sz="3225" b="1" dirty="0" err="1">
                <a:solidFill>
                  <a:srgbClr val="0A0A0A"/>
                </a:solidFill>
              </a:rPr>
              <a:t>落ち込んだ</a:t>
            </a:r>
            <a:r>
              <a:rPr lang="ja-JP" altLang="en-US" sz="3225" b="1" dirty="0">
                <a:solidFill>
                  <a:srgbClr val="0A0A0A"/>
                </a:solidFill>
              </a:rPr>
              <a:t>りイライラ</a:t>
            </a:r>
            <a:r>
              <a:rPr sz="3225" b="1" dirty="0" err="1">
                <a:solidFill>
                  <a:srgbClr val="0A0A0A"/>
                </a:solidFill>
              </a:rPr>
              <a:t>した</a:t>
            </a:r>
            <a:r>
              <a:rPr lang="ja-JP" altLang="en-US" sz="3225" b="1" dirty="0">
                <a:solidFill>
                  <a:srgbClr val="0A0A0A"/>
                </a:solidFill>
              </a:rPr>
              <a:t>ときに</a:t>
            </a:r>
            <a:r>
              <a:rPr sz="3225" b="1" dirty="0">
                <a:solidFill>
                  <a:srgbClr val="0A0A0A"/>
                </a:solidFill>
              </a:rPr>
              <a:t>、</a:t>
            </a:r>
            <a:endParaRPr lang="en-US" sz="3225" b="1" dirty="0">
              <a:solidFill>
                <a:srgbClr val="0A0A0A"/>
              </a:solidFill>
            </a:endParaRPr>
          </a:p>
          <a:p>
            <a:pPr algn="l">
              <a:defRPr sz="3225" b="1">
                <a:solidFill>
                  <a:srgbClr val="0A0A0A"/>
                </a:solidFill>
              </a:defRPr>
            </a:pPr>
            <a:r>
              <a:rPr sz="3225" b="1" dirty="0" err="1">
                <a:solidFill>
                  <a:srgbClr val="0A0A0A"/>
                </a:solidFill>
              </a:rPr>
              <a:t>音楽を聴きたい</a:t>
            </a:r>
            <a:r>
              <a:rPr sz="3225" b="1" dirty="0">
                <a:solidFill>
                  <a:srgbClr val="0A0A0A"/>
                </a:solidFill>
              </a:rPr>
              <a:t>。</a:t>
            </a:r>
            <a:endParaRPr lang="en-US" sz="3225" b="1" dirty="0">
              <a:solidFill>
                <a:srgbClr val="0A0A0A"/>
              </a:solidFill>
            </a:endParaRPr>
          </a:p>
          <a:p>
            <a:pPr algn="l">
              <a:defRPr sz="3225" b="1">
                <a:solidFill>
                  <a:srgbClr val="0A0A0A"/>
                </a:solidFill>
              </a:defRPr>
            </a:pPr>
            <a:endParaRPr lang="en-US" sz="3225" b="1" dirty="0">
              <a:solidFill>
                <a:srgbClr val="0A0A0A"/>
              </a:solidFill>
            </a:endParaRPr>
          </a:p>
          <a:p>
            <a:pPr algn="l">
              <a:defRPr sz="3225" b="1">
                <a:solidFill>
                  <a:srgbClr val="0A0A0A"/>
                </a:solidFill>
              </a:defRPr>
            </a:pPr>
            <a:r>
              <a:rPr lang="ja-JP" altLang="en-US" sz="3225" b="1" dirty="0">
                <a:solidFill>
                  <a:srgbClr val="0A0A0A"/>
                </a:solidFill>
              </a:rPr>
              <a:t>悩みを相談したいけど、</a:t>
            </a:r>
            <a:endParaRPr lang="en-US" altLang="ja-JP" sz="3225" b="1" dirty="0">
              <a:solidFill>
                <a:srgbClr val="0A0A0A"/>
              </a:solidFill>
            </a:endParaRPr>
          </a:p>
          <a:p>
            <a:pPr algn="l">
              <a:defRPr sz="3225" b="1">
                <a:solidFill>
                  <a:srgbClr val="0A0A0A"/>
                </a:solidFill>
              </a:defRPr>
            </a:pPr>
            <a:r>
              <a:rPr lang="ja-JP" altLang="en-US" sz="3225" b="1" dirty="0">
                <a:solidFill>
                  <a:srgbClr val="0A0A0A"/>
                </a:solidFill>
              </a:rPr>
              <a:t>人には聞かれたくない。</a:t>
            </a:r>
            <a:endParaRPr sz="3225" b="1" dirty="0">
              <a:solidFill>
                <a:srgbClr val="0A0A0A"/>
              </a:solidFill>
            </a:endParaRPr>
          </a:p>
        </p:txBody>
      </p:sp>
      <p:sp>
        <p:nvSpPr>
          <p:cNvPr id="6" name="divider">
            <a:extLst>
              <a:ext uri="{FF2B5EF4-FFF2-40B4-BE49-F238E27FC236}">
                <a16:creationId xmlns:a16="http://schemas.microsoft.com/office/drawing/2014/main" id="{EAF9F9D1-AAEF-48AD-B923-D63D75489537}"/>
              </a:ext>
            </a:extLst>
          </p:cNvPr>
          <p:cNvSpPr>
            <a:spLocks noGrp="1"/>
          </p:cNvSpPr>
          <p:nvPr/>
        </p:nvSpPr>
        <p:spPr>
          <a:xfrm>
            <a:off x="7580671" y="1666875"/>
            <a:ext cx="19050" cy="3714750"/>
          </a:xfrm>
          <a:prstGeom prst="rect">
            <a:avLst/>
          </a:prstGeom>
          <a:solidFill>
            <a:srgbClr val="C9CDD2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ervice">
            <a:extLst>
              <a:ext uri="{FF2B5EF4-FFF2-40B4-BE49-F238E27FC236}">
                <a16:creationId xmlns:a16="http://schemas.microsoft.com/office/drawing/2014/main" id="{999A4D7B-FF42-44BF-925B-96E25192201F}"/>
              </a:ext>
            </a:extLst>
          </p:cNvPr>
          <p:cNvSpPr>
            <a:spLocks noGrp="1"/>
          </p:cNvSpPr>
          <p:nvPr/>
        </p:nvSpPr>
        <p:spPr>
          <a:xfrm>
            <a:off x="8028214" y="1809750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666B73"/>
                </a:solidFill>
              </a:defRPr>
            </a:pPr>
            <a:r>
              <a:rPr sz="1500" b="1">
                <a:solidFill>
                  <a:srgbClr val="666B73"/>
                </a:solidFill>
              </a:rPr>
              <a:t>サービスが見ているもの</a:t>
            </a:r>
          </a:p>
        </p:txBody>
      </p:sp>
      <p:sp>
        <p:nvSpPr>
          <p:cNvPr id="8" name="service-big">
            <a:extLst>
              <a:ext uri="{FF2B5EF4-FFF2-40B4-BE49-F238E27FC236}">
                <a16:creationId xmlns:a16="http://schemas.microsoft.com/office/drawing/2014/main" id="{23B55BA3-D93E-411A-997E-200294144A8E}"/>
              </a:ext>
            </a:extLst>
          </p:cNvPr>
          <p:cNvSpPr>
            <a:spLocks noGrp="1"/>
          </p:cNvSpPr>
          <p:nvPr/>
        </p:nvSpPr>
        <p:spPr>
          <a:xfrm>
            <a:off x="8028214" y="2305050"/>
            <a:ext cx="4000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550" b="1">
                <a:solidFill>
                  <a:srgbClr val="0A0A0A"/>
                </a:solidFill>
              </a:defRPr>
            </a:pPr>
            <a:r>
              <a:rPr lang="ja-JP" altLang="en-US" sz="2550" b="1" dirty="0">
                <a:solidFill>
                  <a:srgbClr val="0A0A0A"/>
                </a:solidFill>
              </a:rPr>
              <a:t>・</a:t>
            </a:r>
            <a:r>
              <a:rPr sz="2550" b="1" dirty="0" err="1">
                <a:solidFill>
                  <a:srgbClr val="0A0A0A"/>
                </a:solidFill>
              </a:rPr>
              <a:t>再生履歴</a:t>
            </a:r>
            <a:endParaRPr sz="2550" b="1" dirty="0">
              <a:solidFill>
                <a:srgbClr val="0A0A0A"/>
              </a:solidFill>
            </a:endParaRPr>
          </a:p>
          <a:p>
            <a:pPr algn="l">
              <a:defRPr sz="2550" b="1">
                <a:solidFill>
                  <a:srgbClr val="0A0A0A"/>
                </a:solidFill>
              </a:defRPr>
            </a:pPr>
            <a:r>
              <a:rPr lang="ja-JP" altLang="en-US" sz="2550" b="1" dirty="0">
                <a:solidFill>
                  <a:srgbClr val="0A0A0A"/>
                </a:solidFill>
              </a:rPr>
              <a:t>・</a:t>
            </a:r>
            <a:r>
              <a:rPr sz="2550" b="1" dirty="0" err="1">
                <a:solidFill>
                  <a:srgbClr val="0A0A0A"/>
                </a:solidFill>
              </a:rPr>
              <a:t>ジャンル</a:t>
            </a:r>
            <a:endParaRPr sz="2550" b="1" dirty="0">
              <a:solidFill>
                <a:srgbClr val="0A0A0A"/>
              </a:solidFill>
            </a:endParaRPr>
          </a:p>
          <a:p>
            <a:pPr algn="l">
              <a:defRPr sz="2550" b="1">
                <a:solidFill>
                  <a:srgbClr val="0A0A0A"/>
                </a:solidFill>
              </a:defRPr>
            </a:pPr>
            <a:r>
              <a:rPr lang="ja-JP" altLang="en-US" sz="2550" b="1" dirty="0">
                <a:solidFill>
                  <a:srgbClr val="0A0A0A"/>
                </a:solidFill>
              </a:rPr>
              <a:t>・</a:t>
            </a:r>
            <a:r>
              <a:rPr sz="2550" b="1" dirty="0" err="1">
                <a:solidFill>
                  <a:srgbClr val="0A0A0A"/>
                </a:solidFill>
              </a:rPr>
              <a:t>似ている曲</a:t>
            </a:r>
            <a:endParaRPr sz="2550" b="1" dirty="0">
              <a:solidFill>
                <a:srgbClr val="0A0A0A"/>
              </a:solidFill>
            </a:endParaRPr>
          </a:p>
        </p:txBody>
      </p:sp>
      <p:sp>
        <p:nvSpPr>
          <p:cNvPr id="9" name="missing">
            <a:extLst>
              <a:ext uri="{FF2B5EF4-FFF2-40B4-BE49-F238E27FC236}">
                <a16:creationId xmlns:a16="http://schemas.microsoft.com/office/drawing/2014/main" id="{DC2D409E-E0AF-4F22-B45E-34E958A56718}"/>
              </a:ext>
            </a:extLst>
          </p:cNvPr>
          <p:cNvSpPr>
            <a:spLocks noGrp="1"/>
          </p:cNvSpPr>
          <p:nvPr/>
        </p:nvSpPr>
        <p:spPr>
          <a:xfrm>
            <a:off x="8028214" y="4448175"/>
            <a:ext cx="4476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00" b="1">
                <a:solidFill>
                  <a:srgbClr val="3D8DFF"/>
                </a:solidFill>
              </a:defRPr>
            </a:pPr>
            <a:r>
              <a:rPr lang="ja-JP" altLang="ja-JP" dirty="0"/>
              <a:t>音楽アプリは</a:t>
            </a:r>
            <a:endParaRPr lang="en-US" altLang="ja-JP" dirty="0"/>
          </a:p>
          <a:p>
            <a:pPr>
              <a:defRPr sz="1800" b="1">
                <a:solidFill>
                  <a:srgbClr val="3D8DFF"/>
                </a:solidFill>
              </a:defRPr>
            </a:pPr>
            <a:r>
              <a:rPr lang="ja-JP" altLang="ja-JP" dirty="0"/>
              <a:t>気分までは汲んでくれない</a:t>
            </a:r>
            <a:endParaRPr sz="1800" b="1" dirty="0">
              <a:solidFill>
                <a:srgbClr val="3D8D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8356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>
            <a:extLst>
              <a:ext uri="{FF2B5EF4-FFF2-40B4-BE49-F238E27FC236}">
                <a16:creationId xmlns:a16="http://schemas.microsoft.com/office/drawing/2014/main" id="{698E8644-2A04-4783-9149-68202063400C}"/>
              </a:ext>
            </a:extLst>
          </p:cNvPr>
          <p:cNvSpPr>
            <a:spLocks noGrp="1"/>
          </p:cNvSpPr>
          <p:nvPr/>
        </p:nvSpPr>
        <p:spPr>
          <a:xfrm>
            <a:off x="552450" y="4171950"/>
            <a:ext cx="1066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1">
                <a:solidFill>
                  <a:srgbClr val="0A0A0A"/>
                </a:solidFill>
              </a:defRPr>
            </a:pPr>
            <a:r>
              <a:rPr sz="2850" b="1" dirty="0" err="1">
                <a:solidFill>
                  <a:srgbClr val="0A0A0A"/>
                </a:solidFill>
              </a:rPr>
              <a:t>人が求めているのは、曲だけではない</a:t>
            </a:r>
            <a:r>
              <a:rPr sz="2850" b="1" dirty="0">
                <a:solidFill>
                  <a:srgbClr val="0A0A0A"/>
                </a:solidFill>
              </a:rPr>
              <a:t>。</a:t>
            </a:r>
          </a:p>
        </p:txBody>
      </p:sp>
      <p:sp>
        <p:nvSpPr>
          <p:cNvPr id="2" name="page">
            <a:extLst>
              <a:ext uri="{FF2B5EF4-FFF2-40B4-BE49-F238E27FC236}">
                <a16:creationId xmlns:a16="http://schemas.microsoft.com/office/drawing/2014/main" id="{FA1A42A3-1E3B-4F4D-908A-57C72428C852}"/>
              </a:ext>
            </a:extLst>
          </p:cNvPr>
          <p:cNvSpPr>
            <a:spLocks noGrp="1"/>
          </p:cNvSpPr>
          <p:nvPr/>
        </p:nvSpPr>
        <p:spPr>
          <a:xfrm>
            <a:off x="11334750" y="61912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050" b="1">
                <a:solidFill>
                  <a:srgbClr val="666B73"/>
                </a:solidFill>
              </a:defRPr>
            </a:pPr>
            <a:r>
              <a:rPr sz="1050" b="1">
                <a:solidFill>
                  <a:srgbClr val="666B73"/>
                </a:solidFill>
              </a:rPr>
              <a:t>03</a:t>
            </a:r>
          </a:p>
        </p:txBody>
      </p:sp>
      <p:sp>
        <p:nvSpPr>
          <p:cNvPr id="3" name="rule">
            <a:extLst>
              <a:ext uri="{FF2B5EF4-FFF2-40B4-BE49-F238E27FC236}">
                <a16:creationId xmlns:a16="http://schemas.microsoft.com/office/drawing/2014/main" id="{81FCB012-FC10-4A53-AB30-768CDEEC068A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11277600" cy="19050"/>
          </a:xfrm>
          <a:prstGeom prst="rect">
            <a:avLst/>
          </a:prstGeom>
          <a:solidFill>
            <a:srgbClr val="0A0A0A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label-INSIGHT">
            <a:extLst>
              <a:ext uri="{FF2B5EF4-FFF2-40B4-BE49-F238E27FC236}">
                <a16:creationId xmlns:a16="http://schemas.microsoft.com/office/drawing/2014/main" id="{20853B29-EF44-40FE-88AB-3EED20DEAB8D}"/>
              </a:ext>
            </a:extLst>
          </p:cNvPr>
          <p:cNvSpPr>
            <a:spLocks noGrp="1"/>
          </p:cNvSpPr>
          <p:nvPr/>
        </p:nvSpPr>
        <p:spPr>
          <a:xfrm>
            <a:off x="476250" y="152400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1">
                <a:solidFill>
                  <a:srgbClr val="3D8DFF"/>
                </a:solidFill>
              </a:defRPr>
            </a:pPr>
            <a:r>
              <a:rPr sz="1200" b="1" dirty="0">
                <a:solidFill>
                  <a:schemeClr val="accent2">
                    <a:lumMod val="50000"/>
                  </a:schemeClr>
                </a:solidFill>
              </a:rPr>
              <a:t>INSIGHT</a:t>
            </a:r>
          </a:p>
        </p:txBody>
      </p:sp>
      <p:sp>
        <p:nvSpPr>
          <p:cNvPr id="5" name="main">
            <a:extLst>
              <a:ext uri="{FF2B5EF4-FFF2-40B4-BE49-F238E27FC236}">
                <a16:creationId xmlns:a16="http://schemas.microsoft.com/office/drawing/2014/main" id="{50B7E6BC-1516-4318-AC05-8EB8761B29E5}"/>
              </a:ext>
            </a:extLst>
          </p:cNvPr>
          <p:cNvSpPr>
            <a:spLocks noGrp="1"/>
          </p:cNvSpPr>
          <p:nvPr/>
        </p:nvSpPr>
        <p:spPr>
          <a:xfrm>
            <a:off x="457200" y="2047875"/>
            <a:ext cx="7429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900" b="1">
                <a:solidFill>
                  <a:srgbClr val="0A0A0A"/>
                </a:solidFill>
              </a:defRPr>
            </a:pPr>
            <a:r>
              <a:rPr sz="3900" b="1" dirty="0">
                <a:solidFill>
                  <a:srgbClr val="0A0A0A"/>
                </a:solidFill>
              </a:rPr>
              <a:t>「</a:t>
            </a:r>
            <a:r>
              <a:rPr sz="3900" b="1" dirty="0" err="1">
                <a:solidFill>
                  <a:srgbClr val="0A0A0A"/>
                </a:solidFill>
              </a:rPr>
              <a:t>自分の気持ちを</a:t>
            </a:r>
            <a:endParaRPr sz="3900" b="1" dirty="0">
              <a:solidFill>
                <a:srgbClr val="0A0A0A"/>
              </a:solidFill>
            </a:endParaRPr>
          </a:p>
          <a:p>
            <a:pPr algn="l">
              <a:defRPr sz="3900" b="1">
                <a:solidFill>
                  <a:srgbClr val="0A0A0A"/>
                </a:solidFill>
              </a:defRPr>
            </a:pPr>
            <a:r>
              <a:rPr lang="ja-JP" altLang="en-US" sz="3900" b="1" dirty="0">
                <a:solidFill>
                  <a:srgbClr val="0A0A0A"/>
                </a:solidFill>
              </a:rPr>
              <a:t>　</a:t>
            </a:r>
            <a:r>
              <a:rPr sz="3900" b="1" dirty="0" err="1">
                <a:solidFill>
                  <a:srgbClr val="0A0A0A"/>
                </a:solidFill>
              </a:rPr>
              <a:t>わかってもらえた</a:t>
            </a:r>
            <a:r>
              <a:rPr sz="3900" b="1" dirty="0">
                <a:solidFill>
                  <a:srgbClr val="0A0A0A"/>
                </a:solidFill>
              </a:rPr>
              <a:t>」</a:t>
            </a:r>
          </a:p>
        </p:txBody>
      </p:sp>
      <p:sp>
        <p:nvSpPr>
          <p:cNvPr id="7" name="blue-block">
            <a:extLst>
              <a:ext uri="{FF2B5EF4-FFF2-40B4-BE49-F238E27FC236}">
                <a16:creationId xmlns:a16="http://schemas.microsoft.com/office/drawing/2014/main" id="{1F47E481-CD61-4613-988A-C384651E3A3B}"/>
              </a:ext>
            </a:extLst>
          </p:cNvPr>
          <p:cNvSpPr>
            <a:spLocks noGrp="1"/>
          </p:cNvSpPr>
          <p:nvPr/>
        </p:nvSpPr>
        <p:spPr>
          <a:xfrm>
            <a:off x="8763000" y="1809750"/>
            <a:ext cx="2476500" cy="3143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equence">
            <a:extLst>
              <a:ext uri="{FF2B5EF4-FFF2-40B4-BE49-F238E27FC236}">
                <a16:creationId xmlns:a16="http://schemas.microsoft.com/office/drawing/2014/main" id="{52C0C81F-FBF5-481B-9924-20D6AD06E515}"/>
              </a:ext>
            </a:extLst>
          </p:cNvPr>
          <p:cNvSpPr>
            <a:spLocks noGrp="1"/>
          </p:cNvSpPr>
          <p:nvPr/>
        </p:nvSpPr>
        <p:spPr>
          <a:xfrm>
            <a:off x="9048750" y="2114550"/>
            <a:ext cx="1905000" cy="2552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700" b="1">
                <a:solidFill>
                  <a:srgbClr val="FFFFFF"/>
                </a:solidFill>
              </a:defRPr>
            </a:pPr>
            <a:r>
              <a:rPr sz="2700" b="1" dirty="0" err="1">
                <a:solidFill>
                  <a:srgbClr val="FFFFFF"/>
                </a:solidFill>
              </a:rPr>
              <a:t>気持ち</a:t>
            </a:r>
            <a:endParaRPr sz="2700" b="1" dirty="0">
              <a:solidFill>
                <a:srgbClr val="FFFFFF"/>
              </a:solidFill>
            </a:endParaRPr>
          </a:p>
          <a:p>
            <a:pPr algn="ctr">
              <a:defRPr sz="2700" b="1">
                <a:solidFill>
                  <a:srgbClr val="FFFFFF"/>
                </a:solidFill>
              </a:defRPr>
            </a:pPr>
            <a:r>
              <a:rPr sz="2700" b="1" dirty="0">
                <a:solidFill>
                  <a:srgbClr val="FFFFFF"/>
                </a:solidFill>
              </a:rPr>
              <a:t>↓</a:t>
            </a:r>
          </a:p>
          <a:p>
            <a:pPr algn="ctr">
              <a:defRPr sz="2700" b="1">
                <a:solidFill>
                  <a:srgbClr val="FFFFFF"/>
                </a:solidFill>
              </a:defRPr>
            </a:pPr>
            <a:r>
              <a:rPr sz="2700" b="1" dirty="0" err="1">
                <a:solidFill>
                  <a:srgbClr val="FFFFFF"/>
                </a:solidFill>
              </a:rPr>
              <a:t>返事</a:t>
            </a:r>
            <a:endParaRPr sz="2700" b="1" dirty="0">
              <a:solidFill>
                <a:srgbClr val="FFFFFF"/>
              </a:solidFill>
            </a:endParaRPr>
          </a:p>
          <a:p>
            <a:pPr algn="ctr">
              <a:defRPr sz="2700" b="1">
                <a:solidFill>
                  <a:srgbClr val="FFFFFF"/>
                </a:solidFill>
              </a:defRPr>
            </a:pPr>
            <a:r>
              <a:rPr sz="2700" b="1" dirty="0">
                <a:solidFill>
                  <a:srgbClr val="FFFFFF"/>
                </a:solidFill>
              </a:rPr>
              <a:t>↓</a:t>
            </a:r>
          </a:p>
          <a:p>
            <a:pPr algn="ctr">
              <a:defRPr sz="2700" b="1">
                <a:solidFill>
                  <a:srgbClr val="FFFFFF"/>
                </a:solidFill>
              </a:defRPr>
            </a:pPr>
            <a:r>
              <a:rPr sz="2700" b="1" dirty="0" err="1">
                <a:solidFill>
                  <a:srgbClr val="FFFFFF"/>
                </a:solidFill>
              </a:rPr>
              <a:t>音楽</a:t>
            </a:r>
            <a:endParaRPr sz="27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5370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">
            <a:extLst>
              <a:ext uri="{FF2B5EF4-FFF2-40B4-BE49-F238E27FC236}">
                <a16:creationId xmlns:a16="http://schemas.microsoft.com/office/drawing/2014/main" id="{558A2ABF-F797-4CB8-8598-3F73E0D7C7EC}"/>
              </a:ext>
            </a:extLst>
          </p:cNvPr>
          <p:cNvSpPr>
            <a:spLocks noGrp="1"/>
          </p:cNvSpPr>
          <p:nvPr/>
        </p:nvSpPr>
        <p:spPr>
          <a:xfrm>
            <a:off x="666750" y="5372100"/>
            <a:ext cx="1066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1">
                <a:solidFill>
                  <a:srgbClr val="0A0A0A"/>
                </a:solidFill>
              </a:defRPr>
            </a:pPr>
            <a:r>
              <a:rPr sz="2850" b="1" dirty="0" err="1">
                <a:solidFill>
                  <a:srgbClr val="0A0A0A"/>
                </a:solidFill>
              </a:rPr>
              <a:t>otayoriは、気持ちに返事をするラジオ</a:t>
            </a:r>
            <a:r>
              <a:rPr sz="2850" b="1" dirty="0">
                <a:solidFill>
                  <a:srgbClr val="0A0A0A"/>
                </a:solidFill>
              </a:rPr>
              <a:t>。</a:t>
            </a:r>
          </a:p>
        </p:txBody>
      </p:sp>
      <p:sp>
        <p:nvSpPr>
          <p:cNvPr id="2" name="page">
            <a:extLst>
              <a:ext uri="{FF2B5EF4-FFF2-40B4-BE49-F238E27FC236}">
                <a16:creationId xmlns:a16="http://schemas.microsoft.com/office/drawing/2014/main" id="{7F11EA02-B463-4562-8FEF-0190DFFB2F82}"/>
              </a:ext>
            </a:extLst>
          </p:cNvPr>
          <p:cNvSpPr>
            <a:spLocks noGrp="1"/>
          </p:cNvSpPr>
          <p:nvPr/>
        </p:nvSpPr>
        <p:spPr>
          <a:xfrm>
            <a:off x="11334750" y="61912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050" b="1">
                <a:solidFill>
                  <a:srgbClr val="666B73"/>
                </a:solidFill>
              </a:defRPr>
            </a:pPr>
            <a:r>
              <a:rPr sz="1050" b="1">
                <a:solidFill>
                  <a:srgbClr val="666B73"/>
                </a:solidFill>
              </a:rPr>
              <a:t>04</a:t>
            </a:r>
          </a:p>
        </p:txBody>
      </p:sp>
      <p:sp>
        <p:nvSpPr>
          <p:cNvPr id="3" name="rule">
            <a:extLst>
              <a:ext uri="{FF2B5EF4-FFF2-40B4-BE49-F238E27FC236}">
                <a16:creationId xmlns:a16="http://schemas.microsoft.com/office/drawing/2014/main" id="{7AC9147F-11AD-4F62-B533-EE4F86AE649B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11277600" cy="19050"/>
          </a:xfrm>
          <a:prstGeom prst="rect">
            <a:avLst/>
          </a:prstGeom>
          <a:solidFill>
            <a:srgbClr val="0A0A0A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F98C63D5-C1E5-456E-B49D-1F806B2430C2}"/>
              </a:ext>
            </a:extLst>
          </p:cNvPr>
          <p:cNvSpPr>
            <a:spLocks noGrp="1"/>
          </p:cNvSpPr>
          <p:nvPr/>
        </p:nvSpPr>
        <p:spPr>
          <a:xfrm>
            <a:off x="571500" y="1809750"/>
            <a:ext cx="3143250" cy="31432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head-0">
            <a:extLst>
              <a:ext uri="{FF2B5EF4-FFF2-40B4-BE49-F238E27FC236}">
                <a16:creationId xmlns:a16="http://schemas.microsoft.com/office/drawing/2014/main" id="{A2F219F5-FE0C-4A0D-807E-43702166F9F5}"/>
              </a:ext>
            </a:extLst>
          </p:cNvPr>
          <p:cNvSpPr>
            <a:spLocks noGrp="1"/>
          </p:cNvSpPr>
          <p:nvPr/>
        </p:nvSpPr>
        <p:spPr>
          <a:xfrm>
            <a:off x="819150" y="2057400"/>
            <a:ext cx="26193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1  送る</a:t>
            </a:r>
          </a:p>
        </p:txBody>
      </p:sp>
      <p:sp>
        <p:nvSpPr>
          <p:cNvPr id="6" name="body-0">
            <a:extLst>
              <a:ext uri="{FF2B5EF4-FFF2-40B4-BE49-F238E27FC236}">
                <a16:creationId xmlns:a16="http://schemas.microsoft.com/office/drawing/2014/main" id="{8F017B30-E6B7-4ED1-B08D-C01172116D2F}"/>
              </a:ext>
            </a:extLst>
          </p:cNvPr>
          <p:cNvSpPr>
            <a:spLocks noGrp="1"/>
          </p:cNvSpPr>
          <p:nvPr/>
        </p:nvSpPr>
        <p:spPr>
          <a:xfrm>
            <a:off x="819150" y="2905125"/>
            <a:ext cx="2619375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0A0A0A"/>
                </a:solidFill>
              </a:defRPr>
            </a:pPr>
            <a:r>
              <a:rPr sz="1800" b="1">
                <a:solidFill>
                  <a:srgbClr val="0A0A0A"/>
                </a:solidFill>
              </a:rPr>
              <a:t>今の気持ちを</a:t>
            </a:r>
          </a:p>
          <a:p>
            <a:pPr algn="l">
              <a:defRPr sz="1800" b="1">
                <a:solidFill>
                  <a:srgbClr val="0A0A0A"/>
                </a:solidFill>
              </a:defRPr>
            </a:pPr>
            <a:r>
              <a:rPr sz="1800" b="1">
                <a:solidFill>
                  <a:srgbClr val="0A0A0A"/>
                </a:solidFill>
              </a:rPr>
              <a:t>「はがき」にして送る</a:t>
            </a:r>
          </a:p>
        </p:txBody>
      </p:sp>
      <p:sp>
        <p:nvSpPr>
          <p:cNvPr id="7" name="step-1">
            <a:extLst>
              <a:ext uri="{FF2B5EF4-FFF2-40B4-BE49-F238E27FC236}">
                <a16:creationId xmlns:a16="http://schemas.microsoft.com/office/drawing/2014/main" id="{EAA49672-7D8D-49D8-AC0E-A72954829DF9}"/>
              </a:ext>
            </a:extLst>
          </p:cNvPr>
          <p:cNvSpPr>
            <a:spLocks noGrp="1"/>
          </p:cNvSpPr>
          <p:nvPr/>
        </p:nvSpPr>
        <p:spPr>
          <a:xfrm>
            <a:off x="4333875" y="1809750"/>
            <a:ext cx="3143250" cy="31432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head-1">
            <a:extLst>
              <a:ext uri="{FF2B5EF4-FFF2-40B4-BE49-F238E27FC236}">
                <a16:creationId xmlns:a16="http://schemas.microsoft.com/office/drawing/2014/main" id="{502CBED5-AFC7-479B-A7F7-A5F947220FC7}"/>
              </a:ext>
            </a:extLst>
          </p:cNvPr>
          <p:cNvSpPr>
            <a:spLocks noGrp="1"/>
          </p:cNvSpPr>
          <p:nvPr/>
        </p:nvSpPr>
        <p:spPr>
          <a:xfrm>
            <a:off x="4581525" y="2057400"/>
            <a:ext cx="26193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100" b="1">
                <a:solidFill>
                  <a:srgbClr val="3D8DFF"/>
                </a:solidFill>
              </a:defRPr>
            </a:pPr>
            <a:r>
              <a:rPr sz="2100" b="1" dirty="0">
                <a:solidFill>
                  <a:schemeClr val="accent2">
                    <a:lumMod val="50000"/>
                  </a:schemeClr>
                </a:solidFill>
              </a:rPr>
              <a:t>2  </a:t>
            </a:r>
            <a:r>
              <a:rPr sz="2100" b="1" dirty="0" err="1">
                <a:solidFill>
                  <a:schemeClr val="accent2">
                    <a:lumMod val="50000"/>
                  </a:schemeClr>
                </a:solidFill>
              </a:rPr>
              <a:t>返る</a:t>
            </a:r>
            <a:endParaRPr sz="21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9" name="body-1">
            <a:extLst>
              <a:ext uri="{FF2B5EF4-FFF2-40B4-BE49-F238E27FC236}">
                <a16:creationId xmlns:a16="http://schemas.microsoft.com/office/drawing/2014/main" id="{810C02D8-13E0-49CA-B24C-2A896CDDED76}"/>
              </a:ext>
            </a:extLst>
          </p:cNvPr>
          <p:cNvSpPr>
            <a:spLocks noGrp="1"/>
          </p:cNvSpPr>
          <p:nvPr/>
        </p:nvSpPr>
        <p:spPr>
          <a:xfrm>
            <a:off x="4581525" y="2905125"/>
            <a:ext cx="2619375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0A0A0A"/>
                </a:solidFill>
              </a:defRPr>
            </a:pPr>
            <a:r>
              <a:rPr sz="1800" b="1">
                <a:solidFill>
                  <a:srgbClr val="0A0A0A"/>
                </a:solidFill>
              </a:rPr>
              <a:t>AI DJが文脈を読み、</a:t>
            </a:r>
          </a:p>
          <a:p>
            <a:pPr algn="l">
              <a:defRPr sz="1800" b="1">
                <a:solidFill>
                  <a:srgbClr val="0A0A0A"/>
                </a:solidFill>
              </a:defRPr>
            </a:pPr>
            <a:r>
              <a:rPr sz="1800" b="1">
                <a:solidFill>
                  <a:srgbClr val="0A0A0A"/>
                </a:solidFill>
              </a:rPr>
              <a:t>自分に向けて語りかける</a:t>
            </a:r>
          </a:p>
        </p:txBody>
      </p:sp>
      <p:sp>
        <p:nvSpPr>
          <p:cNvPr id="10" name="step-2">
            <a:extLst>
              <a:ext uri="{FF2B5EF4-FFF2-40B4-BE49-F238E27FC236}">
                <a16:creationId xmlns:a16="http://schemas.microsoft.com/office/drawing/2014/main" id="{CF618488-C7D8-4DBE-8411-65A47D57E4BB}"/>
              </a:ext>
            </a:extLst>
          </p:cNvPr>
          <p:cNvSpPr>
            <a:spLocks noGrp="1"/>
          </p:cNvSpPr>
          <p:nvPr/>
        </p:nvSpPr>
        <p:spPr>
          <a:xfrm>
            <a:off x="8096250" y="1809750"/>
            <a:ext cx="3143250" cy="31432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head-2">
            <a:extLst>
              <a:ext uri="{FF2B5EF4-FFF2-40B4-BE49-F238E27FC236}">
                <a16:creationId xmlns:a16="http://schemas.microsoft.com/office/drawing/2014/main" id="{0FB70218-FE4F-40F8-A290-79E644E8AED6}"/>
              </a:ext>
            </a:extLst>
          </p:cNvPr>
          <p:cNvSpPr>
            <a:spLocks noGrp="1"/>
          </p:cNvSpPr>
          <p:nvPr/>
        </p:nvSpPr>
        <p:spPr>
          <a:xfrm>
            <a:off x="8343900" y="2057400"/>
            <a:ext cx="26193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3  流れる</a:t>
            </a:r>
          </a:p>
        </p:txBody>
      </p:sp>
      <p:sp>
        <p:nvSpPr>
          <p:cNvPr id="12" name="body-2">
            <a:extLst>
              <a:ext uri="{FF2B5EF4-FFF2-40B4-BE49-F238E27FC236}">
                <a16:creationId xmlns:a16="http://schemas.microsoft.com/office/drawing/2014/main" id="{7D1C8F84-17CA-4DD4-BBD3-805E639593E0}"/>
              </a:ext>
            </a:extLst>
          </p:cNvPr>
          <p:cNvSpPr>
            <a:spLocks noGrp="1"/>
          </p:cNvSpPr>
          <p:nvPr/>
        </p:nvSpPr>
        <p:spPr>
          <a:xfrm>
            <a:off x="8343900" y="2905125"/>
            <a:ext cx="2619375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0A0A0A"/>
                </a:solidFill>
              </a:defRPr>
            </a:pPr>
            <a:r>
              <a:rPr sz="1800" b="1">
                <a:solidFill>
                  <a:srgbClr val="0A0A0A"/>
                </a:solidFill>
              </a:rPr>
              <a:t>返事につながる一曲を</a:t>
            </a:r>
          </a:p>
          <a:p>
            <a:pPr algn="l">
              <a:defRPr sz="1800" b="1">
                <a:solidFill>
                  <a:srgbClr val="0A0A0A"/>
                </a:solidFill>
              </a:defRPr>
            </a:pPr>
            <a:r>
              <a:rPr sz="1800" b="1">
                <a:solidFill>
                  <a:srgbClr val="0A0A0A"/>
                </a:solidFill>
              </a:rPr>
              <a:t>ラジオのように再生する</a:t>
            </a:r>
          </a:p>
        </p:txBody>
      </p:sp>
    </p:spTree>
    <p:extLst>
      <p:ext uri="{BB962C8B-B14F-4D97-AF65-F5344CB8AC3E}">
        <p14:creationId xmlns:p14="http://schemas.microsoft.com/office/powerpoint/2010/main" val="9732768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">
            <a:extLst>
              <a:ext uri="{FF2B5EF4-FFF2-40B4-BE49-F238E27FC236}">
                <a16:creationId xmlns:a16="http://schemas.microsoft.com/office/drawing/2014/main" id="{F960FF3E-09B1-4D8C-B447-21F6709A8499}"/>
              </a:ext>
            </a:extLst>
          </p:cNvPr>
          <p:cNvSpPr>
            <a:spLocks noGrp="1"/>
          </p:cNvSpPr>
          <p:nvPr/>
        </p:nvSpPr>
        <p:spPr>
          <a:xfrm>
            <a:off x="661987" y="5067300"/>
            <a:ext cx="1066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1">
                <a:solidFill>
                  <a:srgbClr val="0A0A0A"/>
                </a:solidFill>
              </a:defRPr>
            </a:pPr>
            <a:r>
              <a:rPr sz="2850" b="1" dirty="0" err="1">
                <a:solidFill>
                  <a:srgbClr val="0A0A0A"/>
                </a:solidFill>
              </a:rPr>
              <a:t>リアルタイムな対話と再生を、Cloudflare上でつなぐ</a:t>
            </a:r>
            <a:r>
              <a:rPr sz="2850" b="1" dirty="0">
                <a:solidFill>
                  <a:srgbClr val="0A0A0A"/>
                </a:solidFill>
              </a:rPr>
              <a:t>。</a:t>
            </a:r>
          </a:p>
        </p:txBody>
      </p:sp>
      <p:sp>
        <p:nvSpPr>
          <p:cNvPr id="2" name="page">
            <a:extLst>
              <a:ext uri="{FF2B5EF4-FFF2-40B4-BE49-F238E27FC236}">
                <a16:creationId xmlns:a16="http://schemas.microsoft.com/office/drawing/2014/main" id="{0FA22C0C-E23D-4F10-82B5-E05D293254D4}"/>
              </a:ext>
            </a:extLst>
          </p:cNvPr>
          <p:cNvSpPr>
            <a:spLocks noGrp="1"/>
          </p:cNvSpPr>
          <p:nvPr/>
        </p:nvSpPr>
        <p:spPr>
          <a:xfrm>
            <a:off x="11334750" y="61912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050" b="1">
                <a:solidFill>
                  <a:srgbClr val="666B73"/>
                </a:solidFill>
              </a:defRPr>
            </a:pPr>
            <a:r>
              <a:rPr sz="1050" b="1">
                <a:solidFill>
                  <a:srgbClr val="666B73"/>
                </a:solidFill>
              </a:rPr>
              <a:t>07</a:t>
            </a:r>
          </a:p>
        </p:txBody>
      </p:sp>
      <p:sp>
        <p:nvSpPr>
          <p:cNvPr id="3" name="rule">
            <a:extLst>
              <a:ext uri="{FF2B5EF4-FFF2-40B4-BE49-F238E27FC236}">
                <a16:creationId xmlns:a16="http://schemas.microsoft.com/office/drawing/2014/main" id="{6EA12D35-D1C2-48E6-9803-D7DDA8205652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11277600" cy="19050"/>
          </a:xfrm>
          <a:prstGeom prst="rect">
            <a:avLst/>
          </a:prstGeom>
          <a:solidFill>
            <a:srgbClr val="0A0A0A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ch-0">
            <a:extLst>
              <a:ext uri="{FF2B5EF4-FFF2-40B4-BE49-F238E27FC236}">
                <a16:creationId xmlns:a16="http://schemas.microsoft.com/office/drawing/2014/main" id="{28ED6ED3-8CD7-4ADF-9E84-DEF71EE62536}"/>
              </a:ext>
            </a:extLst>
          </p:cNvPr>
          <p:cNvSpPr>
            <a:spLocks noGrp="1"/>
          </p:cNvSpPr>
          <p:nvPr/>
        </p:nvSpPr>
        <p:spPr>
          <a:xfrm>
            <a:off x="619125" y="1857375"/>
            <a:ext cx="2381250" cy="2857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ch-head-0">
            <a:extLst>
              <a:ext uri="{FF2B5EF4-FFF2-40B4-BE49-F238E27FC236}">
                <a16:creationId xmlns:a16="http://schemas.microsoft.com/office/drawing/2014/main" id="{D449B4C1-7EC9-4991-A303-2CA193F1D0D2}"/>
              </a:ext>
            </a:extLst>
          </p:cNvPr>
          <p:cNvSpPr>
            <a:spLocks noGrp="1"/>
          </p:cNvSpPr>
          <p:nvPr/>
        </p:nvSpPr>
        <p:spPr>
          <a:xfrm>
            <a:off x="828675" y="2076450"/>
            <a:ext cx="1905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0A0A0A"/>
                </a:solidFill>
              </a:defRPr>
            </a:pPr>
            <a:r>
              <a:rPr sz="1800" b="1">
                <a:solidFill>
                  <a:schemeClr val="accent2">
                    <a:lumMod val="50000"/>
                  </a:schemeClr>
                </a:solidFill>
              </a:rPr>
              <a:t>Frontend</a:t>
            </a:r>
          </a:p>
        </p:txBody>
      </p:sp>
      <p:sp>
        <p:nvSpPr>
          <p:cNvPr id="6" name="tech-body-0">
            <a:extLst>
              <a:ext uri="{FF2B5EF4-FFF2-40B4-BE49-F238E27FC236}">
                <a16:creationId xmlns:a16="http://schemas.microsoft.com/office/drawing/2014/main" id="{61E7FAB4-50FE-4048-AC88-1727E2FF01E8}"/>
              </a:ext>
            </a:extLst>
          </p:cNvPr>
          <p:cNvSpPr>
            <a:spLocks noGrp="1"/>
          </p:cNvSpPr>
          <p:nvPr/>
        </p:nvSpPr>
        <p:spPr>
          <a:xfrm>
            <a:off x="828675" y="2781300"/>
            <a:ext cx="1952625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0A0A0A"/>
                </a:solidFill>
              </a:defRPr>
            </a:pPr>
            <a:r>
              <a:rPr lang="en-US" altLang="ja-JP" sz="1500" b="1" dirty="0">
                <a:solidFill>
                  <a:srgbClr val="0A0A0A"/>
                </a:solidFill>
              </a:rPr>
              <a:t>React</a:t>
            </a:r>
          </a:p>
          <a:p>
            <a:pPr algn="l">
              <a:defRPr sz="1500" b="1">
                <a:solidFill>
                  <a:srgbClr val="0A0A0A"/>
                </a:solidFill>
              </a:defRPr>
            </a:pPr>
            <a:r>
              <a:rPr lang="en-US" altLang="ja-JP" sz="1500" b="1" dirty="0">
                <a:solidFill>
                  <a:srgbClr val="0A0A0A"/>
                </a:solidFill>
              </a:rPr>
              <a:t>Vite</a:t>
            </a:r>
          </a:p>
          <a:p>
            <a:pPr algn="l">
              <a:defRPr sz="1500" b="1">
                <a:solidFill>
                  <a:srgbClr val="0A0A0A"/>
                </a:solidFill>
              </a:defRPr>
            </a:pPr>
            <a:endParaRPr sz="1500" b="1" dirty="0">
              <a:solidFill>
                <a:srgbClr val="0A0A0A"/>
              </a:solidFill>
            </a:endParaRPr>
          </a:p>
        </p:txBody>
      </p:sp>
      <p:sp>
        <p:nvSpPr>
          <p:cNvPr id="7" name="arrow-0">
            <a:extLst>
              <a:ext uri="{FF2B5EF4-FFF2-40B4-BE49-F238E27FC236}">
                <a16:creationId xmlns:a16="http://schemas.microsoft.com/office/drawing/2014/main" id="{24FD7535-2C9A-4E95-8A7D-71F5081AE280}"/>
              </a:ext>
            </a:extLst>
          </p:cNvPr>
          <p:cNvSpPr>
            <a:spLocks noGrp="1"/>
          </p:cNvSpPr>
          <p:nvPr/>
        </p:nvSpPr>
        <p:spPr>
          <a:xfrm>
            <a:off x="3019425" y="2952750"/>
            <a:ext cx="3619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250" b="1">
                <a:solidFill>
                  <a:srgbClr val="3D8DFF"/>
                </a:solidFill>
              </a:defRPr>
            </a:pPr>
            <a:r>
              <a:rPr sz="2250" b="1" dirty="0">
                <a:solidFill>
                  <a:schemeClr val="accent2">
                    <a:lumMod val="50000"/>
                  </a:schemeClr>
                </a:solidFill>
              </a:rPr>
              <a:t>→</a:t>
            </a:r>
          </a:p>
        </p:txBody>
      </p:sp>
      <p:sp>
        <p:nvSpPr>
          <p:cNvPr id="8" name="tech-1">
            <a:extLst>
              <a:ext uri="{FF2B5EF4-FFF2-40B4-BE49-F238E27FC236}">
                <a16:creationId xmlns:a16="http://schemas.microsoft.com/office/drawing/2014/main" id="{7911D39D-EA79-4A44-A271-82B33296E418}"/>
              </a:ext>
            </a:extLst>
          </p:cNvPr>
          <p:cNvSpPr>
            <a:spLocks noGrp="1"/>
          </p:cNvSpPr>
          <p:nvPr/>
        </p:nvSpPr>
        <p:spPr>
          <a:xfrm>
            <a:off x="3381375" y="1857375"/>
            <a:ext cx="2381250" cy="2857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ja-JP" altLang="en-US" dirty="0"/>
          </a:p>
        </p:txBody>
      </p:sp>
      <p:sp>
        <p:nvSpPr>
          <p:cNvPr id="9" name="tech-head-1">
            <a:extLst>
              <a:ext uri="{FF2B5EF4-FFF2-40B4-BE49-F238E27FC236}">
                <a16:creationId xmlns:a16="http://schemas.microsoft.com/office/drawing/2014/main" id="{D358C9EC-7990-4583-9D6C-6DF77870D140}"/>
              </a:ext>
            </a:extLst>
          </p:cNvPr>
          <p:cNvSpPr>
            <a:spLocks noGrp="1"/>
          </p:cNvSpPr>
          <p:nvPr/>
        </p:nvSpPr>
        <p:spPr>
          <a:xfrm>
            <a:off x="3590925" y="2076450"/>
            <a:ext cx="1905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3D8DFF"/>
                </a:solidFill>
              </a:defRPr>
            </a:pPr>
            <a:r>
              <a:rPr sz="1800" b="1" dirty="0">
                <a:solidFill>
                  <a:schemeClr val="accent2">
                    <a:lumMod val="50000"/>
                  </a:schemeClr>
                </a:solidFill>
              </a:rPr>
              <a:t>Backend</a:t>
            </a:r>
          </a:p>
        </p:txBody>
      </p:sp>
      <p:sp>
        <p:nvSpPr>
          <p:cNvPr id="10" name="tech-body-1">
            <a:extLst>
              <a:ext uri="{FF2B5EF4-FFF2-40B4-BE49-F238E27FC236}">
                <a16:creationId xmlns:a16="http://schemas.microsoft.com/office/drawing/2014/main" id="{B2667E03-0FFF-403B-A987-F28DEA5163A4}"/>
              </a:ext>
            </a:extLst>
          </p:cNvPr>
          <p:cNvSpPr>
            <a:spLocks noGrp="1"/>
          </p:cNvSpPr>
          <p:nvPr/>
        </p:nvSpPr>
        <p:spPr>
          <a:xfrm>
            <a:off x="3590925" y="2781300"/>
            <a:ext cx="1952625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0A0A0A"/>
                </a:solidFill>
              </a:defRPr>
            </a:pPr>
            <a:r>
              <a:rPr lang="en-US" altLang="ja-JP" sz="1500" b="1" dirty="0">
                <a:solidFill>
                  <a:srgbClr val="0A0A0A"/>
                </a:solidFill>
              </a:rPr>
              <a:t>C</a:t>
            </a:r>
            <a:r>
              <a:rPr sz="1500" b="1" dirty="0">
                <a:solidFill>
                  <a:srgbClr val="0A0A0A"/>
                </a:solidFill>
              </a:rPr>
              <a:t>loudflare Workers</a:t>
            </a:r>
            <a:endParaRPr lang="en-US" sz="1500" b="1" dirty="0">
              <a:solidFill>
                <a:srgbClr val="0A0A0A"/>
              </a:solidFill>
            </a:endParaRPr>
          </a:p>
          <a:p>
            <a:pPr>
              <a:defRPr sz="1500" b="1">
                <a:solidFill>
                  <a:srgbClr val="0A0A0A"/>
                </a:solidFill>
              </a:defRPr>
            </a:pPr>
            <a:r>
              <a:rPr lang="ja-JP" altLang="ja-JP" sz="1500" dirty="0"/>
              <a:t>Hono</a:t>
            </a:r>
            <a:endParaRPr lang="en-US" altLang="ja-JP" sz="1500" dirty="0"/>
          </a:p>
          <a:p>
            <a:pPr>
              <a:defRPr sz="1500" b="1">
                <a:solidFill>
                  <a:srgbClr val="0A0A0A"/>
                </a:solidFill>
              </a:defRPr>
            </a:pPr>
            <a:r>
              <a:rPr lang="en-US" altLang="ja-JP" sz="1500" b="1" dirty="0">
                <a:solidFill>
                  <a:srgbClr val="0A0A0A"/>
                </a:solidFill>
              </a:rPr>
              <a:t>Durable Objects</a:t>
            </a:r>
          </a:p>
          <a:p>
            <a:pPr>
              <a:defRPr sz="1500" b="1">
                <a:solidFill>
                  <a:srgbClr val="0A0A0A"/>
                </a:solidFill>
              </a:defRPr>
            </a:pPr>
            <a:endParaRPr lang="en-US" altLang="ja-JP" sz="1500" b="1" dirty="0">
              <a:solidFill>
                <a:srgbClr val="0A0A0A"/>
              </a:solidFill>
            </a:endParaRPr>
          </a:p>
        </p:txBody>
      </p:sp>
      <p:sp>
        <p:nvSpPr>
          <p:cNvPr id="11" name="arrow-1">
            <a:extLst>
              <a:ext uri="{FF2B5EF4-FFF2-40B4-BE49-F238E27FC236}">
                <a16:creationId xmlns:a16="http://schemas.microsoft.com/office/drawing/2014/main" id="{13AFB0F9-2823-4631-8874-02DA1CB98A6D}"/>
              </a:ext>
            </a:extLst>
          </p:cNvPr>
          <p:cNvSpPr>
            <a:spLocks noGrp="1"/>
          </p:cNvSpPr>
          <p:nvPr/>
        </p:nvSpPr>
        <p:spPr>
          <a:xfrm>
            <a:off x="5781675" y="2952750"/>
            <a:ext cx="3619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chemeClr val="accent2">
                    <a:lumMod val="50000"/>
                  </a:schemeClr>
                </a:solidFill>
              </a:rPr>
              <a:t>→</a:t>
            </a:r>
          </a:p>
        </p:txBody>
      </p:sp>
      <p:sp>
        <p:nvSpPr>
          <p:cNvPr id="12" name="tech-2">
            <a:extLst>
              <a:ext uri="{FF2B5EF4-FFF2-40B4-BE49-F238E27FC236}">
                <a16:creationId xmlns:a16="http://schemas.microsoft.com/office/drawing/2014/main" id="{A6F69CB9-E082-4000-BF34-73991ACC181A}"/>
              </a:ext>
            </a:extLst>
          </p:cNvPr>
          <p:cNvSpPr>
            <a:spLocks noGrp="1"/>
          </p:cNvSpPr>
          <p:nvPr/>
        </p:nvSpPr>
        <p:spPr>
          <a:xfrm>
            <a:off x="6143625" y="1857375"/>
            <a:ext cx="2381250" cy="2857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ja-JP" altLang="en-US" dirty="0"/>
          </a:p>
        </p:txBody>
      </p:sp>
      <p:sp>
        <p:nvSpPr>
          <p:cNvPr id="13" name="tech-head-2">
            <a:extLst>
              <a:ext uri="{FF2B5EF4-FFF2-40B4-BE49-F238E27FC236}">
                <a16:creationId xmlns:a16="http://schemas.microsoft.com/office/drawing/2014/main" id="{9F68264B-1093-480D-A81E-4E3BDC22D662}"/>
              </a:ext>
            </a:extLst>
          </p:cNvPr>
          <p:cNvSpPr>
            <a:spLocks noGrp="1"/>
          </p:cNvSpPr>
          <p:nvPr/>
        </p:nvSpPr>
        <p:spPr>
          <a:xfrm>
            <a:off x="6353175" y="2076450"/>
            <a:ext cx="1905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0A0A0A"/>
                </a:solidFill>
              </a:defRPr>
            </a:pPr>
            <a:r>
              <a:rPr sz="1800" b="1">
                <a:solidFill>
                  <a:schemeClr val="accent2">
                    <a:lumMod val="50000"/>
                  </a:schemeClr>
                </a:solidFill>
              </a:rPr>
              <a:t>AI</a:t>
            </a:r>
          </a:p>
        </p:txBody>
      </p:sp>
      <p:sp>
        <p:nvSpPr>
          <p:cNvPr id="14" name="tech-body-2">
            <a:extLst>
              <a:ext uri="{FF2B5EF4-FFF2-40B4-BE49-F238E27FC236}">
                <a16:creationId xmlns:a16="http://schemas.microsoft.com/office/drawing/2014/main" id="{3D6146DB-37D0-4043-B210-AB308221A06F}"/>
              </a:ext>
            </a:extLst>
          </p:cNvPr>
          <p:cNvSpPr>
            <a:spLocks noGrp="1"/>
          </p:cNvSpPr>
          <p:nvPr/>
        </p:nvSpPr>
        <p:spPr>
          <a:xfrm>
            <a:off x="6353175" y="2781300"/>
            <a:ext cx="1952625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0A0A0A"/>
                </a:solidFill>
              </a:defRPr>
            </a:pPr>
            <a:r>
              <a:rPr lang="ja-JP" altLang="ja-JP" sz="1500" dirty="0"/>
              <a:t>Workers AI</a:t>
            </a:r>
            <a:br>
              <a:rPr lang="en-US" altLang="ja-JP" sz="1500" dirty="0"/>
            </a:br>
            <a:r>
              <a:rPr lang="ja-JP" altLang="ja-JP" sz="1500" dirty="0"/>
              <a:t>（Llama 3.3 70B）</a:t>
            </a:r>
            <a:endParaRPr lang="en-US" altLang="ja-JP" sz="1500" dirty="0"/>
          </a:p>
          <a:p>
            <a:pPr>
              <a:defRPr sz="1500" b="1">
                <a:solidFill>
                  <a:srgbClr val="0A0A0A"/>
                </a:solidFill>
              </a:defRPr>
            </a:pPr>
            <a:r>
              <a:rPr lang="ja-JP" altLang="ja-JP" sz="1500" dirty="0"/>
              <a:t>Agents SDK</a:t>
            </a:r>
            <a:endParaRPr lang="en-US" altLang="ja-JP" sz="1500" dirty="0"/>
          </a:p>
          <a:p>
            <a:pPr>
              <a:defRPr sz="1500" b="1">
                <a:solidFill>
                  <a:srgbClr val="0A0A0A"/>
                </a:solidFill>
              </a:defRPr>
            </a:pPr>
            <a:endParaRPr lang="en-US" altLang="ja-JP" sz="1500" dirty="0"/>
          </a:p>
        </p:txBody>
      </p:sp>
      <p:sp>
        <p:nvSpPr>
          <p:cNvPr id="15" name="arrow-2">
            <a:extLst>
              <a:ext uri="{FF2B5EF4-FFF2-40B4-BE49-F238E27FC236}">
                <a16:creationId xmlns:a16="http://schemas.microsoft.com/office/drawing/2014/main" id="{4D806161-BFF5-4137-ACE8-0915B4BCDA40}"/>
              </a:ext>
            </a:extLst>
          </p:cNvPr>
          <p:cNvSpPr>
            <a:spLocks noGrp="1"/>
          </p:cNvSpPr>
          <p:nvPr/>
        </p:nvSpPr>
        <p:spPr>
          <a:xfrm>
            <a:off x="8543925" y="2952750"/>
            <a:ext cx="3619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250" b="1">
                <a:solidFill>
                  <a:srgbClr val="3D8DFF"/>
                </a:solidFill>
              </a:defRPr>
            </a:pPr>
            <a:r>
              <a:rPr sz="2250" b="1" dirty="0">
                <a:solidFill>
                  <a:schemeClr val="accent2">
                    <a:lumMod val="50000"/>
                  </a:schemeClr>
                </a:solidFill>
              </a:rPr>
              <a:t>→</a:t>
            </a:r>
          </a:p>
        </p:txBody>
      </p:sp>
      <p:sp>
        <p:nvSpPr>
          <p:cNvPr id="16" name="tech-3">
            <a:extLst>
              <a:ext uri="{FF2B5EF4-FFF2-40B4-BE49-F238E27FC236}">
                <a16:creationId xmlns:a16="http://schemas.microsoft.com/office/drawing/2014/main" id="{C9200F32-BF60-4403-85F4-16EC0D12440E}"/>
              </a:ext>
            </a:extLst>
          </p:cNvPr>
          <p:cNvSpPr>
            <a:spLocks noGrp="1"/>
          </p:cNvSpPr>
          <p:nvPr/>
        </p:nvSpPr>
        <p:spPr>
          <a:xfrm>
            <a:off x="8905875" y="1857375"/>
            <a:ext cx="2381250" cy="2857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ch-head-3">
            <a:extLst>
              <a:ext uri="{FF2B5EF4-FFF2-40B4-BE49-F238E27FC236}">
                <a16:creationId xmlns:a16="http://schemas.microsoft.com/office/drawing/2014/main" id="{A278E639-8EDF-47D8-8B35-E2B6B1568D37}"/>
              </a:ext>
            </a:extLst>
          </p:cNvPr>
          <p:cNvSpPr>
            <a:spLocks noGrp="1"/>
          </p:cNvSpPr>
          <p:nvPr/>
        </p:nvSpPr>
        <p:spPr>
          <a:xfrm>
            <a:off x="9115425" y="2076450"/>
            <a:ext cx="1905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0A0A0A"/>
                </a:solidFill>
              </a:defRPr>
            </a:pPr>
            <a:r>
              <a:rPr sz="1800" b="1">
                <a:solidFill>
                  <a:schemeClr val="accent2">
                    <a:lumMod val="50000"/>
                  </a:schemeClr>
                </a:solidFill>
              </a:rPr>
              <a:t>Storage</a:t>
            </a:r>
          </a:p>
        </p:txBody>
      </p:sp>
      <p:sp>
        <p:nvSpPr>
          <p:cNvPr id="18" name="tech-body-3">
            <a:extLst>
              <a:ext uri="{FF2B5EF4-FFF2-40B4-BE49-F238E27FC236}">
                <a16:creationId xmlns:a16="http://schemas.microsoft.com/office/drawing/2014/main" id="{3C757DFF-300A-4EAE-A2EB-2075E95FBA6B}"/>
              </a:ext>
            </a:extLst>
          </p:cNvPr>
          <p:cNvSpPr>
            <a:spLocks noGrp="1"/>
          </p:cNvSpPr>
          <p:nvPr/>
        </p:nvSpPr>
        <p:spPr>
          <a:xfrm>
            <a:off x="9115425" y="2781300"/>
            <a:ext cx="1952625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0A0A0A"/>
                </a:solidFill>
              </a:defRPr>
            </a:pPr>
            <a:r>
              <a:rPr sz="1500" b="1" dirty="0">
                <a:solidFill>
                  <a:srgbClr val="0A0A0A"/>
                </a:solidFill>
              </a:rPr>
              <a:t>D1</a:t>
            </a:r>
          </a:p>
        </p:txBody>
      </p:sp>
      <p:sp>
        <p:nvSpPr>
          <p:cNvPr id="19" name="arch-foot">
            <a:extLst>
              <a:ext uri="{FF2B5EF4-FFF2-40B4-BE49-F238E27FC236}">
                <a16:creationId xmlns:a16="http://schemas.microsoft.com/office/drawing/2014/main" id="{470AF267-328A-4D53-BA52-444D2694183C}"/>
              </a:ext>
            </a:extLst>
          </p:cNvPr>
          <p:cNvSpPr>
            <a:spLocks noGrp="1"/>
          </p:cNvSpPr>
          <p:nvPr/>
        </p:nvSpPr>
        <p:spPr>
          <a:xfrm>
            <a:off x="619125" y="5905500"/>
            <a:ext cx="8191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666B73"/>
                </a:solidFill>
              </a:defRPr>
            </a:pPr>
            <a:r>
              <a:rPr sz="1500" b="1" dirty="0" err="1">
                <a:solidFill>
                  <a:srgbClr val="666B73"/>
                </a:solidFill>
              </a:rPr>
              <a:t>入力</a:t>
            </a:r>
            <a:r>
              <a:rPr sz="1500" b="1" dirty="0">
                <a:solidFill>
                  <a:srgbClr val="666B73"/>
                </a:solidFill>
              </a:rPr>
              <a:t>  →  </a:t>
            </a:r>
            <a:r>
              <a:rPr sz="1500" b="1" dirty="0" err="1">
                <a:solidFill>
                  <a:srgbClr val="666B73"/>
                </a:solidFill>
              </a:rPr>
              <a:t>文脈理解・返答生成</a:t>
            </a:r>
            <a:r>
              <a:rPr sz="1500" b="1" dirty="0">
                <a:solidFill>
                  <a:srgbClr val="666B73"/>
                </a:solidFill>
              </a:rPr>
              <a:t>  →  </a:t>
            </a:r>
            <a:r>
              <a:rPr sz="1500" b="1" dirty="0" err="1">
                <a:solidFill>
                  <a:srgbClr val="666B73"/>
                </a:solidFill>
              </a:rPr>
              <a:t>選曲・再生</a:t>
            </a:r>
            <a:r>
              <a:rPr sz="1500" b="1" dirty="0">
                <a:solidFill>
                  <a:srgbClr val="666B73"/>
                </a:solidFill>
              </a:rPr>
              <a:t>  →  </a:t>
            </a:r>
            <a:r>
              <a:rPr sz="1500" b="1" dirty="0" err="1">
                <a:solidFill>
                  <a:srgbClr val="666B73"/>
                </a:solidFill>
              </a:rPr>
              <a:t>会話とデータの蓄積</a:t>
            </a:r>
            <a:endParaRPr sz="1500" b="1" dirty="0">
              <a:solidFill>
                <a:srgbClr val="666B7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25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">
            <a:extLst>
              <a:ext uri="{FF2B5EF4-FFF2-40B4-BE49-F238E27FC236}">
                <a16:creationId xmlns:a16="http://schemas.microsoft.com/office/drawing/2014/main" id="{14FFBD69-B139-48A8-B661-531A7896016D}"/>
              </a:ext>
            </a:extLst>
          </p:cNvPr>
          <p:cNvSpPr>
            <a:spLocks noGrp="1"/>
          </p:cNvSpPr>
          <p:nvPr/>
        </p:nvSpPr>
        <p:spPr>
          <a:xfrm>
            <a:off x="457200" y="285750"/>
            <a:ext cx="1066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1">
                <a:solidFill>
                  <a:srgbClr val="0A0A0A"/>
                </a:solidFill>
              </a:defRPr>
            </a:pPr>
            <a:r>
              <a:rPr lang="ja-JP" altLang="en-US" sz="2850" b="1" dirty="0">
                <a:solidFill>
                  <a:srgbClr val="0A0A0A"/>
                </a:solidFill>
              </a:rPr>
              <a:t>今後の展望</a:t>
            </a:r>
            <a:endParaRPr sz="2850" b="1" dirty="0">
              <a:solidFill>
                <a:srgbClr val="0A0A0A"/>
              </a:solidFill>
            </a:endParaRPr>
          </a:p>
        </p:txBody>
      </p:sp>
      <p:sp>
        <p:nvSpPr>
          <p:cNvPr id="2" name="page">
            <a:extLst>
              <a:ext uri="{FF2B5EF4-FFF2-40B4-BE49-F238E27FC236}">
                <a16:creationId xmlns:a16="http://schemas.microsoft.com/office/drawing/2014/main" id="{2F10A783-C656-4EB0-AC29-9B67B92B0FEC}"/>
              </a:ext>
            </a:extLst>
          </p:cNvPr>
          <p:cNvSpPr>
            <a:spLocks noGrp="1"/>
          </p:cNvSpPr>
          <p:nvPr/>
        </p:nvSpPr>
        <p:spPr>
          <a:xfrm>
            <a:off x="11334750" y="61912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050" b="1">
                <a:solidFill>
                  <a:srgbClr val="666B73"/>
                </a:solidFill>
              </a:defRPr>
            </a:pPr>
            <a:r>
              <a:rPr sz="1050" b="1">
                <a:solidFill>
                  <a:srgbClr val="666B73"/>
                </a:solidFill>
              </a:rPr>
              <a:t>09</a:t>
            </a:r>
          </a:p>
        </p:txBody>
      </p:sp>
      <p:sp>
        <p:nvSpPr>
          <p:cNvPr id="3" name="rule">
            <a:extLst>
              <a:ext uri="{FF2B5EF4-FFF2-40B4-BE49-F238E27FC236}">
                <a16:creationId xmlns:a16="http://schemas.microsoft.com/office/drawing/2014/main" id="{60F4221E-61C2-40DF-8712-04A1AF47BAB0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11277600" cy="19050"/>
          </a:xfrm>
          <a:prstGeom prst="rect">
            <a:avLst/>
          </a:prstGeom>
          <a:solidFill>
            <a:srgbClr val="0A0A0A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future-head-0">
            <a:extLst>
              <a:ext uri="{FF2B5EF4-FFF2-40B4-BE49-F238E27FC236}">
                <a16:creationId xmlns:a16="http://schemas.microsoft.com/office/drawing/2014/main" id="{95F9AA72-C335-43D6-86C5-4753830497D4}"/>
              </a:ext>
            </a:extLst>
          </p:cNvPr>
          <p:cNvSpPr>
            <a:spLocks noGrp="1"/>
          </p:cNvSpPr>
          <p:nvPr/>
        </p:nvSpPr>
        <p:spPr>
          <a:xfrm>
            <a:off x="523875" y="1809750"/>
            <a:ext cx="3143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100" b="1">
                <a:solidFill>
                  <a:srgbClr val="0A0A0A"/>
                </a:solidFill>
              </a:defRPr>
            </a:pPr>
            <a:r>
              <a:rPr lang="ja-JP" altLang="ja-JP" sz="2100" dirty="0"/>
              <a:t>TTSで実際に喋らせる）</a:t>
            </a:r>
            <a:endParaRPr sz="2100" b="1" dirty="0">
              <a:solidFill>
                <a:srgbClr val="0A0A0A"/>
              </a:solidFill>
            </a:endParaRPr>
          </a:p>
        </p:txBody>
      </p:sp>
      <p:sp>
        <p:nvSpPr>
          <p:cNvPr id="5" name="future-rule-0">
            <a:extLst>
              <a:ext uri="{FF2B5EF4-FFF2-40B4-BE49-F238E27FC236}">
                <a16:creationId xmlns:a16="http://schemas.microsoft.com/office/drawing/2014/main" id="{2D326D2B-2F60-4DDC-9A9C-B8C36D7B1811}"/>
              </a:ext>
            </a:extLst>
          </p:cNvPr>
          <p:cNvSpPr>
            <a:spLocks noGrp="1"/>
          </p:cNvSpPr>
          <p:nvPr/>
        </p:nvSpPr>
        <p:spPr>
          <a:xfrm>
            <a:off x="523875" y="2381250"/>
            <a:ext cx="3143250" cy="28575"/>
          </a:xfrm>
          <a:prstGeom prst="rect">
            <a:avLst/>
          </a:prstGeom>
          <a:solidFill>
            <a:srgbClr val="0A0A0A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future-body-0">
            <a:extLst>
              <a:ext uri="{FF2B5EF4-FFF2-40B4-BE49-F238E27FC236}">
                <a16:creationId xmlns:a16="http://schemas.microsoft.com/office/drawing/2014/main" id="{7DD03C0C-1DE8-4EBC-BC57-719B99DF5800}"/>
              </a:ext>
            </a:extLst>
          </p:cNvPr>
          <p:cNvSpPr>
            <a:spLocks noGrp="1"/>
          </p:cNvSpPr>
          <p:nvPr/>
        </p:nvSpPr>
        <p:spPr>
          <a:xfrm>
            <a:off x="523875" y="2714625"/>
            <a:ext cx="31432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75" b="0">
                <a:solidFill>
                  <a:srgbClr val="666B73"/>
                </a:solidFill>
              </a:defRPr>
            </a:pPr>
            <a:r>
              <a:rPr sz="1575" b="0" dirty="0" err="1">
                <a:solidFill>
                  <a:srgbClr val="666B73"/>
                </a:solidFill>
              </a:rPr>
              <a:t>過去のはがきや返事をもとに</a:t>
            </a:r>
            <a:r>
              <a:rPr sz="1575" b="0" dirty="0">
                <a:solidFill>
                  <a:srgbClr val="666B73"/>
                </a:solidFill>
              </a:rPr>
              <a:t>、</a:t>
            </a:r>
          </a:p>
          <a:p>
            <a:pPr algn="l">
              <a:defRPr sz="1575" b="0">
                <a:solidFill>
                  <a:srgbClr val="666B73"/>
                </a:solidFill>
              </a:defRPr>
            </a:pPr>
            <a:r>
              <a:rPr sz="1575" b="0" dirty="0" err="1">
                <a:solidFill>
                  <a:srgbClr val="666B73"/>
                </a:solidFill>
              </a:rPr>
              <a:t>長期的な関係性を育てる</a:t>
            </a:r>
            <a:endParaRPr sz="1575" b="0" dirty="0">
              <a:solidFill>
                <a:srgbClr val="666B73"/>
              </a:solidFill>
            </a:endParaRPr>
          </a:p>
        </p:txBody>
      </p:sp>
      <p:sp>
        <p:nvSpPr>
          <p:cNvPr id="7" name="future-head-1">
            <a:extLst>
              <a:ext uri="{FF2B5EF4-FFF2-40B4-BE49-F238E27FC236}">
                <a16:creationId xmlns:a16="http://schemas.microsoft.com/office/drawing/2014/main" id="{E2060D03-9255-4620-95C1-B1A72D2024FA}"/>
              </a:ext>
            </a:extLst>
          </p:cNvPr>
          <p:cNvSpPr>
            <a:spLocks noGrp="1"/>
          </p:cNvSpPr>
          <p:nvPr/>
        </p:nvSpPr>
        <p:spPr>
          <a:xfrm>
            <a:off x="4191000" y="1809750"/>
            <a:ext cx="3143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100" b="1">
                <a:solidFill>
                  <a:srgbClr val="3D8DFF"/>
                </a:solidFill>
              </a:defRPr>
            </a:pPr>
            <a:r>
              <a:rPr lang="ja-JP" altLang="ja-JP" sz="2100" dirty="0"/>
              <a:t>選曲の幅を広げる</a:t>
            </a:r>
            <a:endParaRPr sz="21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future-rule-1">
            <a:extLst>
              <a:ext uri="{FF2B5EF4-FFF2-40B4-BE49-F238E27FC236}">
                <a16:creationId xmlns:a16="http://schemas.microsoft.com/office/drawing/2014/main" id="{C12EFDEB-A56E-4A4F-A346-F31E4683CBF7}"/>
              </a:ext>
            </a:extLst>
          </p:cNvPr>
          <p:cNvSpPr>
            <a:spLocks noGrp="1"/>
          </p:cNvSpPr>
          <p:nvPr/>
        </p:nvSpPr>
        <p:spPr>
          <a:xfrm>
            <a:off x="4191000" y="2381250"/>
            <a:ext cx="3143250" cy="28575"/>
          </a:xfrm>
          <a:prstGeom prst="rect">
            <a:avLst/>
          </a:prstGeom>
          <a:solidFill>
            <a:schemeClr val="accent2">
              <a:lumMod val="50000"/>
            </a:schemeClr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9" name="future-body-1">
            <a:extLst>
              <a:ext uri="{FF2B5EF4-FFF2-40B4-BE49-F238E27FC236}">
                <a16:creationId xmlns:a16="http://schemas.microsoft.com/office/drawing/2014/main" id="{3897FBD3-D2F5-47FF-B842-015D16C3ED67}"/>
              </a:ext>
            </a:extLst>
          </p:cNvPr>
          <p:cNvSpPr>
            <a:spLocks noGrp="1"/>
          </p:cNvSpPr>
          <p:nvPr/>
        </p:nvSpPr>
        <p:spPr>
          <a:xfrm>
            <a:off x="4191000" y="2714625"/>
            <a:ext cx="31432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75" b="0">
                <a:solidFill>
                  <a:srgbClr val="666B73"/>
                </a:solidFill>
              </a:defRPr>
            </a:pPr>
            <a:r>
              <a:rPr sz="1575" b="0" dirty="0" err="1">
                <a:solidFill>
                  <a:srgbClr val="666B73"/>
                </a:solidFill>
              </a:rPr>
              <a:t>声・時間・聴取状況も含め</a:t>
            </a:r>
            <a:r>
              <a:rPr sz="1575" b="0" dirty="0">
                <a:solidFill>
                  <a:srgbClr val="666B73"/>
                </a:solidFill>
              </a:rPr>
              <a:t>、</a:t>
            </a:r>
          </a:p>
          <a:p>
            <a:pPr algn="l">
              <a:defRPr sz="1575" b="0">
                <a:solidFill>
                  <a:srgbClr val="666B73"/>
                </a:solidFill>
              </a:defRPr>
            </a:pPr>
            <a:r>
              <a:rPr sz="1575" b="0" dirty="0" err="1">
                <a:solidFill>
                  <a:srgbClr val="666B73"/>
                </a:solidFill>
              </a:rPr>
              <a:t>その瞬間の気持ちを理解する</a:t>
            </a:r>
            <a:endParaRPr sz="1575" b="0" dirty="0">
              <a:solidFill>
                <a:srgbClr val="666B73"/>
              </a:solidFill>
            </a:endParaRPr>
          </a:p>
        </p:txBody>
      </p:sp>
      <p:sp>
        <p:nvSpPr>
          <p:cNvPr id="10" name="future-head-2">
            <a:extLst>
              <a:ext uri="{FF2B5EF4-FFF2-40B4-BE49-F238E27FC236}">
                <a16:creationId xmlns:a16="http://schemas.microsoft.com/office/drawing/2014/main" id="{09D5A415-1AB5-477B-BC3F-5A024CE94E49}"/>
              </a:ext>
            </a:extLst>
          </p:cNvPr>
          <p:cNvSpPr>
            <a:spLocks noGrp="1"/>
          </p:cNvSpPr>
          <p:nvPr/>
        </p:nvSpPr>
        <p:spPr>
          <a:xfrm>
            <a:off x="7858125" y="1809750"/>
            <a:ext cx="3143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一緒につくる</a:t>
            </a:r>
          </a:p>
        </p:txBody>
      </p:sp>
      <p:sp>
        <p:nvSpPr>
          <p:cNvPr id="11" name="future-rule-2">
            <a:extLst>
              <a:ext uri="{FF2B5EF4-FFF2-40B4-BE49-F238E27FC236}">
                <a16:creationId xmlns:a16="http://schemas.microsoft.com/office/drawing/2014/main" id="{492685A9-7728-429A-8904-EC2BB9DDA40C}"/>
              </a:ext>
            </a:extLst>
          </p:cNvPr>
          <p:cNvSpPr>
            <a:spLocks noGrp="1"/>
          </p:cNvSpPr>
          <p:nvPr/>
        </p:nvSpPr>
        <p:spPr>
          <a:xfrm>
            <a:off x="7858125" y="2381250"/>
            <a:ext cx="3143250" cy="28575"/>
          </a:xfrm>
          <a:prstGeom prst="rect">
            <a:avLst/>
          </a:prstGeom>
          <a:solidFill>
            <a:srgbClr val="0A0A0A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future-body-2">
            <a:extLst>
              <a:ext uri="{FF2B5EF4-FFF2-40B4-BE49-F238E27FC236}">
                <a16:creationId xmlns:a16="http://schemas.microsoft.com/office/drawing/2014/main" id="{F5CC5769-730B-4070-90B5-4DBC0925C3A8}"/>
              </a:ext>
            </a:extLst>
          </p:cNvPr>
          <p:cNvSpPr>
            <a:spLocks noGrp="1"/>
          </p:cNvSpPr>
          <p:nvPr/>
        </p:nvSpPr>
        <p:spPr>
          <a:xfrm>
            <a:off x="7858125" y="2714625"/>
            <a:ext cx="31432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75" b="0">
                <a:solidFill>
                  <a:srgbClr val="666B73"/>
                </a:solidFill>
              </a:defRPr>
            </a:pPr>
            <a:r>
              <a:rPr sz="1575" b="0" dirty="0" err="1">
                <a:solidFill>
                  <a:srgbClr val="666B73"/>
                </a:solidFill>
              </a:rPr>
              <a:t>リスナー同士のお便りや番組を</a:t>
            </a:r>
            <a:r>
              <a:rPr sz="1575" b="0" dirty="0">
                <a:solidFill>
                  <a:srgbClr val="666B73"/>
                </a:solidFill>
              </a:rPr>
              <a:t>、</a:t>
            </a:r>
          </a:p>
          <a:p>
            <a:pPr algn="l">
              <a:defRPr sz="1575" b="0">
                <a:solidFill>
                  <a:srgbClr val="666B73"/>
                </a:solidFill>
              </a:defRPr>
            </a:pPr>
            <a:r>
              <a:rPr sz="1575" b="0" dirty="0">
                <a:solidFill>
                  <a:srgbClr val="666B73"/>
                </a:solidFill>
              </a:rPr>
              <a:t>AI </a:t>
            </a:r>
            <a:r>
              <a:rPr sz="1575" b="0" dirty="0" err="1">
                <a:solidFill>
                  <a:srgbClr val="666B73"/>
                </a:solidFill>
              </a:rPr>
              <a:t>DJが編成する</a:t>
            </a:r>
            <a:endParaRPr sz="1575" b="0" dirty="0">
              <a:solidFill>
                <a:srgbClr val="666B73"/>
              </a:solidFill>
            </a:endParaRPr>
          </a:p>
        </p:txBody>
      </p:sp>
      <p:sp>
        <p:nvSpPr>
          <p:cNvPr id="13" name="close">
            <a:extLst>
              <a:ext uri="{FF2B5EF4-FFF2-40B4-BE49-F238E27FC236}">
                <a16:creationId xmlns:a16="http://schemas.microsoft.com/office/drawing/2014/main" id="{5149A3D9-6952-41EC-968B-9D0E540BA734}"/>
              </a:ext>
            </a:extLst>
          </p:cNvPr>
          <p:cNvSpPr>
            <a:spLocks noGrp="1"/>
          </p:cNvSpPr>
          <p:nvPr/>
        </p:nvSpPr>
        <p:spPr>
          <a:xfrm>
            <a:off x="523875" y="4810125"/>
            <a:ext cx="8572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音楽を選ぶAIから、</a:t>
            </a:r>
          </a:p>
          <a:p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気持ちに寄り添うメディアへ。</a:t>
            </a:r>
          </a:p>
        </p:txBody>
      </p:sp>
    </p:spTree>
    <p:extLst>
      <p:ext uri="{BB962C8B-B14F-4D97-AF65-F5344CB8AC3E}">
        <p14:creationId xmlns:p14="http://schemas.microsoft.com/office/powerpoint/2010/main" val="110991169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173</Words>
  <Application>Microsoft Office PowerPoint</Application>
  <DocSecurity>0</DocSecurity>
  <PresentationFormat>ワイド画面</PresentationFormat>
  <Paragraphs>69</Paragraphs>
  <Slides>6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8" baseType="lpstr">
      <vt:lpstr>Calibri</vt:lpstr>
      <vt:lpstr>ChatGPT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masayoshi_yanagi@keio.jp</cp:lastModifiedBy>
  <cp:revision>3</cp:revision>
  <dcterms:created xsi:type="dcterms:W3CDTF">2026-08-08T05:56:58Z</dcterms:created>
  <dcterms:modified xsi:type="dcterms:W3CDTF">2026-08-08T07:33:59Z</dcterms:modified>
</cp:coreProperties>
</file>