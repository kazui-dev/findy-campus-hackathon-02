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07a295b774b23" /><Relationship Type="http://schemas.openxmlformats.org/officeDocument/2006/relationships/extended-properties" Target="/docProps/app.xml" Id="R0320baf092bb4675" /><Relationship Type="http://schemas.openxmlformats.org/officeDocument/2006/relationships/officeDocument" Target="/ppt/presentation.xml" Id="R9afac3e008a748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065128a204ecc"/>
  </p:sldMasterIdLst>
  <p:notesMasterIdLst>
    <p:notesMasterId xmlns:r="http://schemas.openxmlformats.org/officeDocument/2006/relationships" r:id="Rfcec245ef6c1474c"/>
  </p:notesMasterIdLst>
  <p:sldIdLst>
    <p:sldId xmlns:r="http://schemas.openxmlformats.org/officeDocument/2006/relationships" id="256" r:id="Rbbbf55a3f6884398"/>
    <p:sldId xmlns:r="http://schemas.openxmlformats.org/officeDocument/2006/relationships" id="257" r:id="Rcdbfbdbfc06041ad"/>
    <p:sldId xmlns:r="http://schemas.openxmlformats.org/officeDocument/2006/relationships" id="258" r:id="R5790b98ef50245e3"/>
    <p:sldId xmlns:r="http://schemas.openxmlformats.org/officeDocument/2006/relationships" id="259" r:id="R779cc5951a5f46e7"/>
    <p:sldId xmlns:r="http://schemas.openxmlformats.org/officeDocument/2006/relationships" id="260" r:id="R6bba156819524ebd"/>
    <p:sldId xmlns:r="http://schemas.openxmlformats.org/officeDocument/2006/relationships" id="261" r:id="Rd9531e659b124dcd"/>
    <p:sldId xmlns:r="http://schemas.openxmlformats.org/officeDocument/2006/relationships" id="262" r:id="Re7452248db4c46eb"/>
    <p:sldId xmlns:r="http://schemas.openxmlformats.org/officeDocument/2006/relationships" id="263" r:id="Rb20379ed731b41ff"/>
    <p:sldId xmlns:r="http://schemas.openxmlformats.org/officeDocument/2006/relationships" id="264" r:id="Rd3c8ba25c01548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cb9c8f193d4a45" /><Relationship Type="http://schemas.openxmlformats.org/officeDocument/2006/relationships/slideMaster" Target="/ppt/slideMasters/slideMaster1.xml" Id="Rc49065128a204ecc" /><Relationship Type="http://schemas.openxmlformats.org/officeDocument/2006/relationships/notesMaster" Target="/ppt/notesMasters/notesMaster1.xml" Id="Rfcec245ef6c1474c" /><Relationship Type="http://schemas.openxmlformats.org/officeDocument/2006/relationships/presProps" Target="/ppt/presProps.xml" Id="Rb589f638c3e247c7" /><Relationship Type="http://schemas.openxmlformats.org/officeDocument/2006/relationships/tableStyles" Target="/ppt/tableStyles.xml" Id="R0908d85af2964148" /><Relationship Type="http://schemas.openxmlformats.org/officeDocument/2006/relationships/slide" Target="/ppt/slides/slide1.xml" Id="Rbbbf55a3f6884398" /><Relationship Type="http://schemas.openxmlformats.org/officeDocument/2006/relationships/slide" Target="/ppt/slides/slide2.xml" Id="Rcdbfbdbfc06041ad" /><Relationship Type="http://schemas.openxmlformats.org/officeDocument/2006/relationships/slide" Target="/ppt/slides/slide3.xml" Id="R5790b98ef50245e3" /><Relationship Type="http://schemas.openxmlformats.org/officeDocument/2006/relationships/slide" Target="/ppt/slides/slide4.xml" Id="R779cc5951a5f46e7" /><Relationship Type="http://schemas.openxmlformats.org/officeDocument/2006/relationships/slide" Target="/ppt/slides/slide5.xml" Id="R6bba156819524ebd" /><Relationship Type="http://schemas.openxmlformats.org/officeDocument/2006/relationships/slide" Target="/ppt/slides/slide6.xml" Id="Rd9531e659b124dcd" /><Relationship Type="http://schemas.openxmlformats.org/officeDocument/2006/relationships/slide" Target="/ppt/slides/slide7.xml" Id="Re7452248db4c46eb" /><Relationship Type="http://schemas.openxmlformats.org/officeDocument/2006/relationships/slide" Target="/ppt/slides/slide8.xml" Id="Rb20379ed731b41ff" /><Relationship Type="http://schemas.openxmlformats.org/officeDocument/2006/relationships/slide" Target="/ppt/slides/slide9.xml" Id="Rd3c8ba25c01548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f3da95e407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6aa13e33946a0" /><Relationship Type="http://schemas.openxmlformats.org/officeDocument/2006/relationships/notesMaster" Target="/ppt/notesMasters/notesMaster1.xml" Id="R47dd7a95785142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94cd688e954934" /><Relationship Type="http://schemas.openxmlformats.org/officeDocument/2006/relationships/notesMaster" Target="/ppt/notesMasters/notesMaster1.xml" Id="Rcfe49d6072ec4e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0e8c8207694374" /><Relationship Type="http://schemas.openxmlformats.org/officeDocument/2006/relationships/notesMaster" Target="/ppt/notesMasters/notesMaster1.xml" Id="Rfd3d908afaa64e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f6238ba4fc4eb3" /><Relationship Type="http://schemas.openxmlformats.org/officeDocument/2006/relationships/notesMaster" Target="/ppt/notesMasters/notesMaster1.xml" Id="R029b2d5eb67f46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6c861b663a4197" /><Relationship Type="http://schemas.openxmlformats.org/officeDocument/2006/relationships/notesMaster" Target="/ppt/notesMasters/notesMaster1.xml" Id="Rfa706b6598954b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ce1f4a85f4f62" /><Relationship Type="http://schemas.openxmlformats.org/officeDocument/2006/relationships/notesMaster" Target="/ppt/notesMasters/notesMaster1.xml" Id="R128f9ecfa2134a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0bdd56d3f648c7" /><Relationship Type="http://schemas.openxmlformats.org/officeDocument/2006/relationships/notesMaster" Target="/ppt/notesMasters/notesMaster1.xml" Id="Ra3cd730e2c1d42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ef9a6b7a2b4759" /><Relationship Type="http://schemas.openxmlformats.org/officeDocument/2006/relationships/notesMaster" Target="/ppt/notesMasters/notesMaster1.xml" Id="Rd84678140d0d46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e5b311e8c64ef0" /><Relationship Type="http://schemas.openxmlformats.org/officeDocument/2006/relationships/notesMaster" Target="/ppt/notesMasters/notesMaster1.xml" Id="Rf74df3557633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00fb33be34c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4bfda810a43de" /><Relationship Type="http://schemas.openxmlformats.org/officeDocument/2006/relationships/slideLayout" Target="/ppt/slideLayouts/slideLayout1.xml" Id="R9973494b164248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73494b164248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d9fd3c2df4afa" /><Relationship Type="http://schemas.openxmlformats.org/officeDocument/2006/relationships/notesSlide" Target="/ppt/notesSlides/notesSlide1.xml" Id="R0ddef931d59f4e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7309ed15a4304" /><Relationship Type="http://schemas.openxmlformats.org/officeDocument/2006/relationships/notesSlide" Target="/ppt/notesSlides/notesSlide2.xml" Id="R5d76a8da912e48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aefe2d99f44fc" /><Relationship Type="http://schemas.openxmlformats.org/officeDocument/2006/relationships/notesSlide" Target="/ppt/notesSlides/notesSlide3.xml" Id="Rcd4dd6457e3e40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eb3f118424e90" /><Relationship Type="http://schemas.openxmlformats.org/officeDocument/2006/relationships/notesSlide" Target="/ppt/notesSlides/notesSlide4.xml" Id="Rca57d1f0041e4e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90f0a4af3408d" /><Relationship Type="http://schemas.openxmlformats.org/officeDocument/2006/relationships/notesSlide" Target="/ppt/notesSlides/notesSlide5.xml" Id="Rc3f080212dd5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c94a5ec18401c" /><Relationship Type="http://schemas.openxmlformats.org/officeDocument/2006/relationships/notesSlide" Target="/ppt/notesSlides/notesSlide6.xml" Id="R722c98802dc44d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e7f81aae64271" /><Relationship Type="http://schemas.openxmlformats.org/officeDocument/2006/relationships/notesSlide" Target="/ppt/notesSlides/notesSlide7.xml" Id="Rbfa3cdd7c63045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3c2898584151" /><Relationship Type="http://schemas.openxmlformats.org/officeDocument/2006/relationships/notesSlide" Target="/ppt/notesSlides/notesSlide8.xml" Id="Rbda75f717e5742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dc3f59da34c88" /><Relationship Type="http://schemas.openxmlformats.org/officeDocument/2006/relationships/notesSlide" Target="/ppt/notesSlides/notesSlide9.xml" Id="Rd666297f533940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F09C232C-571C-4B7E-8BDB-A8E0CFD7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otayori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E4DF0E-15E1-47A0-9747-7EB15150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876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「聴く」だけのラジオから、</a:t>
            </a:r>
          </a:p>
          <a:p xmlns:a="http://schemas.openxmlformats.org/drawingml/2006/main">
            <a:pPr algn="l"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「送る・返る」ラジオへ。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EFA61A3-79A8-4EE6-98F4-53F55E24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B73"/>
                </a:solidFill>
              </a:defRPr>
            </a:pPr>
            <a:r>
              <a:rPr sz="1800" b="0">
                <a:solidFill>
                  <a:srgbClr val="666B73"/>
                </a:solidFill>
              </a:rPr>
              <a:t>気持ちを受け取り、AI DJが言葉と音楽で返す。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5AC014A2-9BF3-44F0-B3A9-1E706AC7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text">
            <a:extLst xmlns:a="http://schemas.openxmlformats.org/drawingml/2006/main">
              <a:ext uri="{FF2B5EF4-FFF2-40B4-BE49-F238E27FC236}">
                <a16:creationId xmlns:a16="http://schemas.microsoft.com/office/drawing/2014/main" id="{0F19892D-6B00-4C52-8F68-5C50CAFB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RADIO DJ AI  ×  LETTER  ×  MUSIC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1D47F56-7BCF-4613-BFA4-A774C525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982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A5E739A-1BF5-4F43-8010-379AF98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音楽レコメンドには、「自分ごと感」がない。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178EA79-B37D-42B7-920C-1F9063C0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02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995D8D0-18D0-4923-8623-A7595EA7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PAIN">
            <a:extLst xmlns:a="http://schemas.openxmlformats.org/drawingml/2006/main">
              <a:ext uri="{FF2B5EF4-FFF2-40B4-BE49-F238E27FC236}">
                <a16:creationId xmlns:a16="http://schemas.microsoft.com/office/drawing/2014/main" id="{D98799C6-CEDC-4AE8-A8FB-980D372A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PAIN</a:t>
            </a:r>
          </a:p>
        </p:txBody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A9CB0DE4-9E1F-4A99-B464-41F2D2FF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504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</a:defRPr>
            </a:pPr>
            <a:r>
              <a:rPr sz="3225" b="1">
                <a:solidFill>
                  <a:srgbClr val="0A0A0A"/>
                </a:solidFill>
              </a:rPr>
              <a:t>落ち込んだ。</a:t>
            </a:r>
          </a:p>
          <a:p xmlns:a="http://schemas.openxmlformats.org/drawingml/2006/main">
            <a:pPr algn="l">
              <a:defRPr sz="3225" b="1">
                <a:solidFill>
                  <a:srgbClr val="0A0A0A"/>
                </a:solidFill>
              </a:defRPr>
            </a:pPr>
            <a:r>
              <a:rPr sz="3225" b="1">
                <a:solidFill>
                  <a:srgbClr val="0A0A0A"/>
                </a:solidFill>
              </a:rPr>
              <a:t>むしゃくしゃした。</a:t>
            </a:r>
          </a:p>
          <a:p xmlns:a="http://schemas.openxmlformats.org/drawingml/2006/main">
            <a:pPr algn="l">
              <a:defRPr sz="3225" b="1">
                <a:solidFill>
                  <a:srgbClr val="0A0A0A"/>
                </a:solidFill>
              </a:defRPr>
            </a:pPr>
            <a:r>
              <a:rPr sz="3225" b="1">
                <a:solidFill>
                  <a:srgbClr val="0A0A0A"/>
                </a:solidFill>
              </a:rPr>
              <a:t>だから、音楽を聴きたい。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EAF9F9D1-AAEF-48AD-B923-D63D7548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rvice">
            <a:extLst xmlns:a="http://schemas.openxmlformats.org/drawingml/2006/main">
              <a:ext uri="{FF2B5EF4-FFF2-40B4-BE49-F238E27FC236}">
                <a16:creationId xmlns:a16="http://schemas.microsoft.com/office/drawing/2014/main" id="{999A4D7B-FF42-44BF-925B-96E25192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6B73"/>
                </a:solidFill>
              </a:defRPr>
            </a:pPr>
            <a:r>
              <a:rPr sz="1500" b="1">
                <a:solidFill>
                  <a:srgbClr val="666B73"/>
                </a:solidFill>
              </a:rPr>
              <a:t>サービスが見ているもの</a:t>
            </a:r>
          </a:p>
        </p:txBody>
      </p:sp>
      <p:sp>
        <p:nvSpPr>
          <p:cNvPr id="8" name="service-big">
            <a:extLst xmlns:a="http://schemas.openxmlformats.org/drawingml/2006/main">
              <a:ext uri="{FF2B5EF4-FFF2-40B4-BE49-F238E27FC236}">
                <a16:creationId xmlns:a16="http://schemas.microsoft.com/office/drawing/2014/main" id="{23B55BA3-D93E-411A-997E-20029414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0A0A"/>
                </a:solidFill>
              </a:defRPr>
            </a:pPr>
            <a:r>
              <a:rPr sz="2550" b="1">
                <a:solidFill>
                  <a:srgbClr val="0A0A0A"/>
                </a:solidFill>
              </a:rPr>
              <a:t>再生履歴</a:t>
            </a:r>
          </a:p>
          <a:p xmlns:a="http://schemas.openxmlformats.org/drawingml/2006/main">
            <a:pPr algn="l">
              <a:defRPr sz="2550" b="1">
                <a:solidFill>
                  <a:srgbClr val="0A0A0A"/>
                </a:solidFill>
              </a:defRPr>
            </a:pPr>
            <a:r>
              <a:rPr sz="2550" b="1">
                <a:solidFill>
                  <a:srgbClr val="0A0A0A"/>
                </a:solidFill>
              </a:rPr>
              <a:t>ジャンル</a:t>
            </a:r>
          </a:p>
          <a:p xmlns:a="http://schemas.openxmlformats.org/drawingml/2006/main">
            <a:pPr algn="l">
              <a:defRPr sz="2550" b="1">
                <a:solidFill>
                  <a:srgbClr val="0A0A0A"/>
                </a:solidFill>
              </a:defRPr>
            </a:pPr>
            <a:r>
              <a:rPr sz="2550" b="1">
                <a:solidFill>
                  <a:srgbClr val="0A0A0A"/>
                </a:solidFill>
              </a:rPr>
              <a:t>似ている曲</a:t>
            </a:r>
          </a:p>
        </p:txBody>
      </p:sp>
      <p:sp>
        <p:nvSpPr>
          <p:cNvPr id="9" name="missing">
            <a:extLst xmlns:a="http://schemas.openxmlformats.org/drawingml/2006/main">
              <a:ext uri="{FF2B5EF4-FFF2-40B4-BE49-F238E27FC236}">
                <a16:creationId xmlns:a16="http://schemas.microsoft.com/office/drawing/2014/main" id="{DC2D409E-E0AF-4F22-B45E-34E958A5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でも、「なぜ今その曲なのか」は見えていない。</a:t>
            </a:r>
          </a:p>
        </p:txBody>
      </p:sp>
    </p:spTree>
    <p:extLst>
      <p:ext uri="{BB962C8B-B14F-4D97-AF65-F5344CB8AC3E}">
        <p14:creationId xmlns:p14="http://schemas.microsoft.com/office/powerpoint/2010/main" val="468356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98E8644-2A04-4783-9149-68202063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人が求めているのは、曲だけではない。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A1A42A3-1E3B-4F4D-908A-57C7242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03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1FCB012-FC10-4A53-AB30-768CDEEC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INSIGHT">
            <a:extLst xmlns:a="http://schemas.openxmlformats.org/drawingml/2006/main">
              <a:ext uri="{FF2B5EF4-FFF2-40B4-BE49-F238E27FC236}">
                <a16:creationId xmlns:a16="http://schemas.microsoft.com/office/drawing/2014/main" id="{20853B29-EF44-40FE-88AB-3EED20D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INSIGHT</a:t>
            </a:r>
          </a:p>
        </p:txBody>
      </p:sp>
      <p:sp>
        <p:nvSpPr>
          <p:cNvPr id="5" name="main">
            <a:extLst xmlns:a="http://schemas.openxmlformats.org/drawingml/2006/main">
              <a:ext uri="{FF2B5EF4-FFF2-40B4-BE49-F238E27FC236}">
                <a16:creationId xmlns:a16="http://schemas.microsoft.com/office/drawing/2014/main" id="{50B7E6BC-1516-4318-AC05-8EB8761B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「自分の気持ちを</a:t>
            </a:r>
          </a:p>
          <a:p xmlns:a="http://schemas.openxmlformats.org/drawingml/2006/main">
            <a:pPr algn="l"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わかってもらえた」</a:t>
            </a:r>
          </a:p>
        </p:txBody>
      </p:sp>
      <p:sp>
        <p:nvSpPr>
          <p:cNvPr id="6" name="then">
            <a:extLst xmlns:a="http://schemas.openxmlformats.org/drawingml/2006/main">
              <a:ext uri="{FF2B5EF4-FFF2-40B4-BE49-F238E27FC236}">
                <a16:creationId xmlns:a16="http://schemas.microsoft.com/office/drawing/2014/main" id="{4A4A748B-2133-452D-86D9-8542F14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B73"/>
                </a:solidFill>
              </a:defRPr>
            </a:pPr>
            <a:r>
              <a:rPr sz="1950" b="0">
                <a:solidFill>
                  <a:srgbClr val="666B73"/>
                </a:solidFill>
              </a:rPr>
              <a:t>その実感のあとに聴く音楽は、</a:t>
            </a:r>
          </a:p>
          <a:p xmlns:a="http://schemas.openxmlformats.org/drawingml/2006/main">
            <a:pPr algn="l">
              <a:defRPr sz="1950" b="0">
                <a:solidFill>
                  <a:srgbClr val="666B73"/>
                </a:solidFill>
              </a:defRPr>
            </a:pPr>
            <a:r>
              <a:rPr sz="1950" b="0">
                <a:solidFill>
                  <a:srgbClr val="666B73"/>
                </a:solidFill>
              </a:rPr>
              <a:t>ただのレコメンドから“自分への一曲”に変わる。</a:t>
            </a:r>
          </a:p>
        </p:txBody>
      </p:sp>
      <p:sp>
        <p:nvSpPr>
          <p:cNvPr id="7" name="blue-block">
            <a:extLst xmlns:a="http://schemas.openxmlformats.org/drawingml/2006/main">
              <a:ext uri="{FF2B5EF4-FFF2-40B4-BE49-F238E27FC236}">
                <a16:creationId xmlns:a16="http://schemas.microsoft.com/office/drawing/2014/main" id="{1F47E481-CD61-4613-988A-C384651E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quence">
            <a:extLst xmlns:a="http://schemas.openxmlformats.org/drawingml/2006/main">
              <a:ext uri="{FF2B5EF4-FFF2-40B4-BE49-F238E27FC236}">
                <a16:creationId xmlns:a16="http://schemas.microsoft.com/office/drawing/2014/main" id="{52C0C81F-FBF5-481B-9924-20D6AD06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905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気持ち</a:t>
            </a:r>
          </a:p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返事</a:t>
            </a:r>
          </a:p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音楽</a:t>
            </a:r>
          </a:p>
        </p:txBody>
      </p:sp>
    </p:spTree>
    <p:extLst>
      <p:ext uri="{BB962C8B-B14F-4D97-AF65-F5344CB8AC3E}">
        <p14:creationId xmlns:p14="http://schemas.microsoft.com/office/powerpoint/2010/main" val="2045370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558A2ABF-F797-4CB8-8598-3F73E0D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otayoriは、気持ちに返事をするラジオ。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F11EA02-B463-4562-8FEF-0190DFFB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04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AC9147F-11AD-4F62-B533-EE4F86AE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F98C63D5-C1E5-456E-B49D-1F806B2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A2F219F5-FE0C-4A0D-807E-4370216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1  送る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8F017B30-E6B7-4ED1-B08D-C011721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今の気持ちを</a:t>
            </a:r>
          </a:p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「はがき」にして送る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EAA49672-7D8D-49D8-AC0E-A7295482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8" name="head-1">
            <a:extLst xmlns:a="http://schemas.openxmlformats.org/drawingml/2006/main">
              <a:ext uri="{FF2B5EF4-FFF2-40B4-BE49-F238E27FC236}">
                <a16:creationId xmlns:a16="http://schemas.microsoft.com/office/drawing/2014/main" id="{502CBED5-AFC7-479B-A7F7-A5F94722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574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  返る</a:t>
            </a:r>
          </a:p>
        </p:txBody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810C02D8-13E0-49CA-B24C-2A896CDD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051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AI DJが文脈を読み、</a:t>
            </a:r>
          </a:p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自分に向けて語りかける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CF618488-C7D8-4DBE-8411-65A47D57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1" name="head-2">
            <a:extLst xmlns:a="http://schemas.openxmlformats.org/drawingml/2006/main">
              <a:ext uri="{FF2B5EF4-FFF2-40B4-BE49-F238E27FC236}">
                <a16:creationId xmlns:a16="http://schemas.microsoft.com/office/drawing/2014/main" id="{0FB70218-FE4F-40F8-A290-79E644E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3  流れる</a:t>
            </a:r>
          </a:p>
        </p:txBody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7D1C8F84-17CA-4DD4-BBD3-805E639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051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返事につながる一曲を</a:t>
            </a:r>
          </a:p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ラジオのように再生する</a:t>
            </a:r>
          </a:p>
        </p:txBody>
      </p:sp>
      <p:sp>
        <p:nvSpPr>
          <p:cNvPr id="13" name="flow">
            <a:extLst xmlns:a="http://schemas.openxmlformats.org/drawingml/2006/main">
              <a:ext uri="{FF2B5EF4-FFF2-40B4-BE49-F238E27FC236}">
                <a16:creationId xmlns:a16="http://schemas.microsoft.com/office/drawing/2014/main" id="{FA83CF44-6056-49B3-8A5B-3237497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911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LETTER  →  AI DJ  →  MUSIC</a:t>
            </a:r>
          </a:p>
        </p:txBody>
      </p:sp>
    </p:spTree>
    <p:extLst>
      <p:ext uri="{BB962C8B-B14F-4D97-AF65-F5344CB8AC3E}">
        <p14:creationId xmlns:p14="http://schemas.microsoft.com/office/powerpoint/2010/main" val="973276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17F38C7-C7C2-4822-A8FB-8A3528D5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デモ：はがきから、一曲が返るまで。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9E7C279-34FD-4047-849E-C494CDA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05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B034AA-B256-4CE1-879E-B6E61C16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364DF80-B7B8-468D-89DB-860419B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lay">
            <a:extLst xmlns:a="http://schemas.openxmlformats.org/drawingml/2006/main">
              <a:ext uri="{FF2B5EF4-FFF2-40B4-BE49-F238E27FC236}">
                <a16:creationId xmlns:a16="http://schemas.microsoft.com/office/drawing/2014/main" id="{F51FE82A-AB37-4289-8569-C9C9860A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video-label">
            <a:extLst xmlns:a="http://schemas.openxmlformats.org/drawingml/2006/main">
              <a:ext uri="{FF2B5EF4-FFF2-40B4-BE49-F238E27FC236}">
                <a16:creationId xmlns:a16="http://schemas.microsoft.com/office/drawing/2014/main" id="{7B752FB7-C35E-4734-BCB3-AFE8951F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DEMO VIDEO</a:t>
            </a:r>
          </a:p>
        </p:txBody>
      </p:sp>
      <p:sp>
        <p:nvSpPr>
          <p:cNvPr id="7" name="label-FLOW">
            <a:extLst xmlns:a="http://schemas.openxmlformats.org/drawingml/2006/main">
              <a:ext uri="{FF2B5EF4-FFF2-40B4-BE49-F238E27FC236}">
                <a16:creationId xmlns:a16="http://schemas.microsoft.com/office/drawing/2014/main" id="{6847E87A-B5D5-4A1A-9A32-44E8C0E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FLOW</a:t>
            </a:r>
          </a:p>
        </p:txBody>
      </p:sp>
      <p:sp>
        <p:nvSpPr>
          <p:cNvPr id="8" name="demo-flow">
            <a:extLst xmlns:a="http://schemas.openxmlformats.org/drawingml/2006/main">
              <a:ext uri="{FF2B5EF4-FFF2-40B4-BE49-F238E27FC236}">
                <a16:creationId xmlns:a16="http://schemas.microsoft.com/office/drawing/2014/main" id="{D655AE2B-D3CA-4CA2-9EE7-130A4D74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</a:defRPr>
            </a:pPr>
            <a:r>
              <a:rPr sz="1950" b="1">
                <a:solidFill>
                  <a:srgbClr val="0A0A0A"/>
                </a:solidFill>
              </a:rPr>
              <a:t>はがきを書く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1">
                <a:solidFill>
                  <a:srgbClr val="0A0A0A"/>
                </a:solidFill>
              </a:defRPr>
            </a:pPr>
            <a:r>
              <a:rPr sz="1950" b="1">
                <a:solidFill>
                  <a:srgbClr val="0A0A0A"/>
                </a:solidFill>
              </a:rPr>
              <a:t>AI DJの返事を聴く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1">
                <a:solidFill>
                  <a:srgbClr val="0A0A0A"/>
                </a:solidFill>
              </a:defRPr>
            </a:pPr>
            <a:r>
              <a:rPr sz="1950" b="1">
                <a:solidFill>
                  <a:srgbClr val="0A0A0A"/>
                </a:solidFill>
              </a:rPr>
              <a:t>選曲された音楽が流れる</a:t>
            </a:r>
          </a:p>
        </p:txBody>
      </p:sp>
      <p:sp>
        <p:nvSpPr>
          <p:cNvPr id="9" name="placeholder">
            <a:extLst xmlns:a="http://schemas.openxmlformats.org/drawingml/2006/main">
              <a:ext uri="{FF2B5EF4-FFF2-40B4-BE49-F238E27FC236}">
                <a16:creationId xmlns:a16="http://schemas.microsoft.com/office/drawing/2014/main" id="{236444DF-B2F8-4236-9E5A-3ED3D683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48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3"/>
                </a:solidFill>
              </a:defRPr>
            </a:pPr>
            <a:r>
              <a:rPr sz="1200" b="0">
                <a:solidFill>
                  <a:srgbClr val="666B73"/>
                </a:solidFill>
              </a:rPr>
              <a:t>※動画添付後、この枠に差し替え</a:t>
            </a:r>
          </a:p>
        </p:txBody>
      </p:sp>
    </p:spTree>
    <p:extLst>
      <p:ext uri="{BB962C8B-B14F-4D97-AF65-F5344CB8AC3E}">
        <p14:creationId xmlns:p14="http://schemas.microsoft.com/office/powerpoint/2010/main" val="980474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CDFEA6C-38DB-47B1-8C10-B6B0604F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選曲の前に、気持ちを受け取る。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9D8311E-14AF-4646-8EFE-F0C763D3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06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2D3FC6A-BF19-4F00-91F7-2065281F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ld-label">
            <a:extLst xmlns:a="http://schemas.openxmlformats.org/drawingml/2006/main">
              <a:ext uri="{FF2B5EF4-FFF2-40B4-BE49-F238E27FC236}">
                <a16:creationId xmlns:a16="http://schemas.microsoft.com/office/drawing/2014/main" id="{257725AF-B8DE-42E2-81BB-8F22557E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B73"/>
                </a:solidFill>
              </a:defRPr>
            </a:pPr>
            <a:r>
              <a:rPr sz="1350" b="1">
                <a:solidFill>
                  <a:srgbClr val="666B73"/>
                </a:solidFill>
              </a:rPr>
              <a:t>従来</a:t>
            </a:r>
          </a:p>
        </p:txBody>
      </p:sp>
      <p:sp>
        <p:nvSpPr>
          <p:cNvPr id="5" name="old">
            <a:extLst xmlns:a="http://schemas.openxmlformats.org/drawingml/2006/main">
              <a:ext uri="{FF2B5EF4-FFF2-40B4-BE49-F238E27FC236}">
                <a16:creationId xmlns:a16="http://schemas.microsoft.com/office/drawing/2014/main" id="{16F31787-9F33-4A42-8D5C-956E619F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66B73"/>
                </a:solidFill>
              </a:defRPr>
            </a:pPr>
            <a:r>
              <a:rPr sz="2250" b="1">
                <a:solidFill>
                  <a:srgbClr val="666B73"/>
                </a:solidFill>
              </a:rPr>
              <a:t>履歴  →  似た曲  →  再生</a:t>
            </a:r>
          </a:p>
        </p:txBody>
      </p:sp>
      <p:sp>
        <p:nvSpPr>
          <p:cNvPr id="6" name="old-line">
            <a:extLst xmlns:a="http://schemas.openxmlformats.org/drawingml/2006/main">
              <a:ext uri="{FF2B5EF4-FFF2-40B4-BE49-F238E27FC236}">
                <a16:creationId xmlns:a16="http://schemas.microsoft.com/office/drawing/2014/main" id="{C32AF7CC-7F14-4BEA-A91D-6C5678E9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ew-label">
            <a:extLst xmlns:a="http://schemas.openxmlformats.org/drawingml/2006/main">
              <a:ext uri="{FF2B5EF4-FFF2-40B4-BE49-F238E27FC236}">
                <a16:creationId xmlns:a16="http://schemas.microsoft.com/office/drawing/2014/main" id="{C673C095-1C54-40BF-AD67-F47710E9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otayori</a:t>
            </a:r>
          </a:p>
        </p:txBody>
      </p:sp>
      <p:sp>
        <p:nvSpPr>
          <p:cNvPr id="8" name="new">
            <a:extLst xmlns:a="http://schemas.openxmlformats.org/drawingml/2006/main">
              <a:ext uri="{FF2B5EF4-FFF2-40B4-BE49-F238E27FC236}">
                <a16:creationId xmlns:a16="http://schemas.microsoft.com/office/drawing/2014/main" id="{2B511CCA-4C57-4FC8-B5F0-83253006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0A0A"/>
                </a:solidFill>
              </a:defRPr>
            </a:pPr>
            <a:r>
              <a:rPr sz="2550" b="1">
                <a:solidFill>
                  <a:srgbClr val="0A0A0A"/>
                </a:solidFill>
              </a:rPr>
              <a:t>気持ち  →  返事  →  一曲</a:t>
            </a:r>
          </a:p>
        </p:txBody>
      </p:sp>
      <p:sp>
        <p:nvSpPr>
          <p:cNvPr id="9" name="impact">
            <a:extLst xmlns:a="http://schemas.openxmlformats.org/drawingml/2006/main">
              <a:ext uri="{FF2B5EF4-FFF2-40B4-BE49-F238E27FC236}">
                <a16:creationId xmlns:a16="http://schemas.microsoft.com/office/drawing/2014/main" id="{387C8EB8-3A39-4AA4-B010-1A5CD543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000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AA4A9F24-25E7-4413-9543-5E9EF50C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体験価値</a:t>
            </a:r>
          </a:p>
        </p:txBody>
      </p:sp>
      <p:sp>
        <p:nvSpPr>
          <p:cNvPr id="11" name="impact-copy">
            <a:extLst xmlns:a="http://schemas.openxmlformats.org/drawingml/2006/main">
              <a:ext uri="{FF2B5EF4-FFF2-40B4-BE49-F238E27FC236}">
                <a16:creationId xmlns:a16="http://schemas.microsoft.com/office/drawing/2014/main" id="{E40ABFDF-B123-4B6A-9AE9-6D8016CC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A0A0A"/>
                </a:solidFill>
              </a:defRPr>
            </a:pPr>
            <a:r>
              <a:rPr sz="2625" b="1">
                <a:solidFill>
                  <a:srgbClr val="0A0A0A"/>
                </a:solidFill>
              </a:rPr>
              <a:t>「おすすめされた」</a:t>
            </a:r>
          </a:p>
          <a:p xmlns:a="http://schemas.openxmlformats.org/drawingml/2006/main">
            <a:pPr algn="l">
              <a:defRPr sz="2625" b="1">
                <a:solidFill>
                  <a:srgbClr val="0A0A0A"/>
                </a:solidFill>
              </a:defRPr>
            </a:pPr>
            <a:r>
              <a:rPr sz="2625" b="1">
                <a:solidFill>
                  <a:srgbClr val="0A0A0A"/>
                </a:solidFill>
              </a:rPr>
              <a:t>ではなく、</a:t>
            </a:r>
          </a:p>
          <a:p xmlns:a="http://schemas.openxmlformats.org/drawingml/2006/main">
            <a:pPr algn="l">
              <a:defRPr sz="2625" b="1">
                <a:solidFill>
                  <a:srgbClr val="0A0A0A"/>
                </a:solidFill>
              </a:defRPr>
            </a:pPr>
            <a:r>
              <a:rPr sz="2625" b="1">
                <a:solidFill>
                  <a:srgbClr val="0A0A0A"/>
                </a:solidFill>
              </a:rPr>
              <a:t>「自分に返ってきた」</a:t>
            </a:r>
          </a:p>
        </p:txBody>
      </p:sp>
    </p:spTree>
    <p:extLst>
      <p:ext uri="{BB962C8B-B14F-4D97-AF65-F5344CB8AC3E}">
        <p14:creationId xmlns:p14="http://schemas.microsoft.com/office/powerpoint/2010/main" val="794008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F960FF3E-09B1-4D8C-B447-21F6709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リアルタイムな対話と再生を、Cloudflare上でつなぐ。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FA22C0C-E23D-4F10-82B5-E05D2932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07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EA12D35-D1C2-48E6-9803-D7DDA820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ch-0">
            <a:extLst xmlns:a="http://schemas.openxmlformats.org/drawingml/2006/main">
              <a:ext uri="{FF2B5EF4-FFF2-40B4-BE49-F238E27FC236}">
                <a16:creationId xmlns:a16="http://schemas.microsoft.com/office/drawing/2014/main" id="{28ED6ED3-8CD7-4ADF-9E84-DEF71EE6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5" name="tech-head-0">
            <a:extLst xmlns:a="http://schemas.openxmlformats.org/drawingml/2006/main">
              <a:ext uri="{FF2B5EF4-FFF2-40B4-BE49-F238E27FC236}">
                <a16:creationId xmlns:a16="http://schemas.microsoft.com/office/drawing/2014/main" id="{D449B4C1-7EC9-4991-A303-2CA193F1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764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Frontend</a:t>
            </a:r>
          </a:p>
        </p:txBody>
      </p:sp>
      <p:sp>
        <p:nvSpPr>
          <p:cNvPr id="6" name="tech-body-0">
            <a:extLst xmlns:a="http://schemas.openxmlformats.org/drawingml/2006/main">
              <a:ext uri="{FF2B5EF4-FFF2-40B4-BE49-F238E27FC236}">
                <a16:creationId xmlns:a16="http://schemas.microsoft.com/office/drawing/2014/main" id="{61E7FAB4-50FE-4048-AC88-1727E2FF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952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JavaScript</a:t>
            </a:r>
          </a:p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CSS</a:t>
            </a:r>
          </a:p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Spotify Web Playback SDK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24FD7535-2C9A-4E95-8A7D-71F5081A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52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tech-1">
            <a:extLst xmlns:a="http://schemas.openxmlformats.org/drawingml/2006/main">
              <a:ext uri="{FF2B5EF4-FFF2-40B4-BE49-F238E27FC236}">
                <a16:creationId xmlns:a16="http://schemas.microsoft.com/office/drawing/2014/main" id="{7911D39D-EA79-4A44-A271-82B33296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57375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9" name="tech-head-1">
            <a:extLst xmlns:a="http://schemas.openxmlformats.org/drawingml/2006/main">
              <a:ext uri="{FF2B5EF4-FFF2-40B4-BE49-F238E27FC236}">
                <a16:creationId xmlns:a16="http://schemas.microsoft.com/office/drawing/2014/main" id="{D358C9EC-7990-4583-9D6C-6DF7787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764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Backend</a:t>
            </a:r>
          </a:p>
        </p:txBody>
      </p:sp>
      <p:sp>
        <p:nvSpPr>
          <p:cNvPr id="10" name="tech-body-1">
            <a:extLst xmlns:a="http://schemas.openxmlformats.org/drawingml/2006/main">
              <a:ext uri="{FF2B5EF4-FFF2-40B4-BE49-F238E27FC236}">
                <a16:creationId xmlns:a16="http://schemas.microsoft.com/office/drawing/2014/main" id="{B2667E03-0FFF-403B-A987-F28DEA5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81300"/>
            <a:ext cx="1952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Cloudflare Workers</a:t>
            </a:r>
          </a:p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TypeScript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13AFB0F9-2823-4631-8874-02DA1CB9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52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tech-2">
            <a:extLst xmlns:a="http://schemas.openxmlformats.org/drawingml/2006/main">
              <a:ext uri="{FF2B5EF4-FFF2-40B4-BE49-F238E27FC236}">
                <a16:creationId xmlns:a16="http://schemas.microsoft.com/office/drawing/2014/main" id="{A6F69CB9-E082-4000-BF34-73991ACC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57375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3" name="tech-head-2">
            <a:extLst xmlns:a="http://schemas.openxmlformats.org/drawingml/2006/main">
              <a:ext uri="{FF2B5EF4-FFF2-40B4-BE49-F238E27FC236}">
                <a16:creationId xmlns:a16="http://schemas.microsoft.com/office/drawing/2014/main" id="{9F68264B-1093-480D-A81E-4E3BDC22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764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AI</a:t>
            </a:r>
          </a:p>
        </p:txBody>
      </p:sp>
      <p:sp>
        <p:nvSpPr>
          <p:cNvPr id="14" name="tech-body-2">
            <a:extLst xmlns:a="http://schemas.openxmlformats.org/drawingml/2006/main">
              <a:ext uri="{FF2B5EF4-FFF2-40B4-BE49-F238E27FC236}">
                <a16:creationId xmlns:a16="http://schemas.microsoft.com/office/drawing/2014/main" id="{3D6146DB-37D0-4043-B210-AB308221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81300"/>
            <a:ext cx="1952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Workers AI</a:t>
            </a:r>
          </a:p>
        </p:txBody>
      </p:sp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4D806161-BFF5-4137-ACE8-0915B4BC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52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tech-3">
            <a:extLst xmlns:a="http://schemas.openxmlformats.org/drawingml/2006/main">
              <a:ext uri="{FF2B5EF4-FFF2-40B4-BE49-F238E27FC236}">
                <a16:creationId xmlns:a16="http://schemas.microsoft.com/office/drawing/2014/main" id="{C9200F32-BF60-4403-85F4-16EC0D12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57375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7" name="tech-head-3">
            <a:extLst xmlns:a="http://schemas.openxmlformats.org/drawingml/2006/main">
              <a:ext uri="{FF2B5EF4-FFF2-40B4-BE49-F238E27FC236}">
                <a16:creationId xmlns:a16="http://schemas.microsoft.com/office/drawing/2014/main" id="{A278E639-8EDF-47D8-8B35-E2B6B156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764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Storage</a:t>
            </a:r>
          </a:p>
        </p:txBody>
      </p:sp>
      <p:sp>
        <p:nvSpPr>
          <p:cNvPr id="18" name="tech-body-3">
            <a:extLst xmlns:a="http://schemas.openxmlformats.org/drawingml/2006/main">
              <a:ext uri="{FF2B5EF4-FFF2-40B4-BE49-F238E27FC236}">
                <a16:creationId xmlns:a16="http://schemas.microsoft.com/office/drawing/2014/main" id="{3C757DFF-300A-4EAE-A2EB-2075E95F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81300"/>
            <a:ext cx="1952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R2</a:t>
            </a:r>
          </a:p>
          <a:p xmlns:a="http://schemas.openxmlformats.org/drawingml/2006/main">
            <a:pPr algn="l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D1</a:t>
            </a:r>
          </a:p>
        </p:txBody>
      </p:sp>
      <p:sp>
        <p:nvSpPr>
          <p:cNvPr id="19" name="arch-foot">
            <a:extLst xmlns:a="http://schemas.openxmlformats.org/drawingml/2006/main">
              <a:ext uri="{FF2B5EF4-FFF2-40B4-BE49-F238E27FC236}">
                <a16:creationId xmlns:a16="http://schemas.microsoft.com/office/drawing/2014/main" id="{470AF267-328A-4D53-BA52-444D2694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6B73"/>
                </a:solidFill>
              </a:defRPr>
            </a:pPr>
            <a:r>
              <a:rPr sz="1500" b="1">
                <a:solidFill>
                  <a:srgbClr val="666B73"/>
                </a:solidFill>
              </a:rPr>
              <a:t>入力  →  文脈理解・返答生成  →  選曲・再生  →  会話とデータの蓄積</a:t>
            </a:r>
          </a:p>
        </p:txBody>
      </p:sp>
    </p:spTree>
    <p:extLst>
      <p:ext uri="{BB962C8B-B14F-4D97-AF65-F5344CB8AC3E}">
        <p14:creationId xmlns:p14="http://schemas.microsoft.com/office/powerpoint/2010/main" val="1272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B2A96006-DC27-4555-B23A-D0B508F8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結果：音楽を“気持ちへの返事”に変える体験を実装。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6C4E8C3-CB19-45CA-99ED-9D6E6BA6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08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B03E96F-91EC-41AB-80FE-95F1C42C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8E88F476-2E17-4243-AE06-64E4A72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line-0">
            <a:extLst xmlns:a="http://schemas.openxmlformats.org/drawingml/2006/main">
              <a:ext uri="{FF2B5EF4-FFF2-40B4-BE49-F238E27FC236}">
                <a16:creationId xmlns:a16="http://schemas.microsoft.com/office/drawing/2014/main" id="{5A17A9B0-9799-44B1-B544-343EECF5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85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sult-0">
            <a:extLst xmlns:a="http://schemas.openxmlformats.org/drawingml/2006/main">
              <a:ext uri="{FF2B5EF4-FFF2-40B4-BE49-F238E27FC236}">
                <a16:creationId xmlns:a16="http://schemas.microsoft.com/office/drawing/2014/main" id="{C9776070-1998-4A02-B8A5-02EB4B40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62125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はがきで、今の気持ちを言葉にできる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34F0441C-B959-4F49-9CB7-837DCEF5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5C40993D-D3FA-41AB-A266-4B68740F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sult-1">
            <a:extLst xmlns:a="http://schemas.openxmlformats.org/drawingml/2006/main">
              <a:ext uri="{FF2B5EF4-FFF2-40B4-BE49-F238E27FC236}">
                <a16:creationId xmlns:a16="http://schemas.microsoft.com/office/drawing/2014/main" id="{372778FC-C6B6-4874-86FC-E46F711F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05125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AI DJが、文脈に沿った返事を生成できる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93FCDF4F-43D5-494A-A827-1859392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1" name="line-2">
            <a:extLst xmlns:a="http://schemas.openxmlformats.org/drawingml/2006/main">
              <a:ext uri="{FF2B5EF4-FFF2-40B4-BE49-F238E27FC236}">
                <a16:creationId xmlns:a16="http://schemas.microsoft.com/office/drawing/2014/main" id="{3ABDBC59-B234-47C2-8096-DA2D7524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71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ult-2">
            <a:extLst xmlns:a="http://schemas.openxmlformats.org/drawingml/2006/main">
              <a:ext uri="{FF2B5EF4-FFF2-40B4-BE49-F238E27FC236}">
                <a16:creationId xmlns:a16="http://schemas.microsoft.com/office/drawing/2014/main" id="{EA47BAA7-B617-407A-9995-C15F928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48125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返事から音楽再生までを一つの体験にできる</a:t>
            </a:r>
          </a:p>
        </p:txBody>
      </p:sp>
      <p:sp>
        <p:nvSpPr>
          <p:cNvPr id="13" name="note">
            <a:extLst xmlns:a="http://schemas.openxmlformats.org/drawingml/2006/main">
              <a:ext uri="{FF2B5EF4-FFF2-40B4-BE49-F238E27FC236}">
                <a16:creationId xmlns:a16="http://schemas.microsoft.com/office/drawing/2014/main" id="{E18C15BE-82FA-4BDE-9D33-E7EED740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292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</a:defRPr>
            </a:pPr>
            <a:r>
              <a:rPr sz="1350" b="0">
                <a:solidFill>
                  <a:srgbClr val="666B73"/>
                </a:solidFill>
              </a:rPr>
              <a:t>プロトタイプとして、コンセプトと技術基盤を検証。</a:t>
            </a:r>
          </a:p>
        </p:txBody>
      </p:sp>
    </p:spTree>
    <p:extLst>
      <p:ext uri="{BB962C8B-B14F-4D97-AF65-F5344CB8AC3E}">
        <p14:creationId xmlns:p14="http://schemas.microsoft.com/office/powerpoint/2010/main" val="80669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14FFBD69-B139-48A8-B661-531A7896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次は、あなたを覚えている“いつものラジオ”へ。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F10A783-C656-4EB0-AC29-9B67B92B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B73"/>
                </a:solidFill>
              </a:defRPr>
            </a:pPr>
            <a:r>
              <a:rPr sz="1050" b="1">
                <a:solidFill>
                  <a:srgbClr val="666B73"/>
                </a:solidFill>
              </a:rPr>
              <a:t>09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0F4221E-61C2-40DF-8712-04A1AF47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uture-head-0">
            <a:extLst xmlns:a="http://schemas.openxmlformats.org/drawingml/2006/main">
              <a:ext uri="{FF2B5EF4-FFF2-40B4-BE49-F238E27FC236}">
                <a16:creationId xmlns:a16="http://schemas.microsoft.com/office/drawing/2014/main" id="{95F9AA72-C335-43D6-86C5-47538304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記憶する</a:t>
            </a:r>
          </a:p>
        </p:txBody>
      </p:sp>
      <p:sp>
        <p:nvSpPr>
          <p:cNvPr id="5" name="future-rule-0">
            <a:extLst xmlns:a="http://schemas.openxmlformats.org/drawingml/2006/main">
              <a:ext uri="{FF2B5EF4-FFF2-40B4-BE49-F238E27FC236}">
                <a16:creationId xmlns:a16="http://schemas.microsoft.com/office/drawing/2014/main" id="{2D326D2B-2F60-4DDC-9A9C-B8C36D7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uture-body-0">
            <a:extLst xmlns:a="http://schemas.openxmlformats.org/drawingml/2006/main">
              <a:ext uri="{FF2B5EF4-FFF2-40B4-BE49-F238E27FC236}">
                <a16:creationId xmlns:a16="http://schemas.microsoft.com/office/drawing/2014/main" id="{7DD03C0C-1DE8-4EBC-BC57-719B99DF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</a:defRPr>
            </a:pPr>
            <a:r>
              <a:rPr sz="1575" b="0">
                <a:solidFill>
                  <a:srgbClr val="666B73"/>
                </a:solidFill>
              </a:rPr>
              <a:t>過去のはがきや返事をもとに、</a:t>
            </a:r>
          </a:p>
          <a:p xmlns:a="http://schemas.openxmlformats.org/drawingml/2006/main">
            <a:pPr algn="l">
              <a:defRPr sz="1575" b="0">
                <a:solidFill>
                  <a:srgbClr val="666B73"/>
                </a:solidFill>
              </a:defRPr>
            </a:pPr>
            <a:r>
              <a:rPr sz="1575" b="0">
                <a:solidFill>
                  <a:srgbClr val="666B73"/>
                </a:solidFill>
              </a:rPr>
              <a:t>長期的な関係性を育てる</a:t>
            </a:r>
          </a:p>
        </p:txBody>
      </p:sp>
      <p:sp>
        <p:nvSpPr>
          <p:cNvPr id="7" name="future-head-1">
            <a:extLst xmlns:a="http://schemas.openxmlformats.org/drawingml/2006/main">
              <a:ext uri="{FF2B5EF4-FFF2-40B4-BE49-F238E27FC236}">
                <a16:creationId xmlns:a16="http://schemas.microsoft.com/office/drawing/2014/main" id="{E2060D03-9255-4620-95C1-B1A72D20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深くわかる</a:t>
            </a:r>
          </a:p>
        </p:txBody>
      </p:sp>
      <p:sp>
        <p:nvSpPr>
          <p:cNvPr id="8" name="future-rule-1">
            <a:extLst xmlns:a="http://schemas.openxmlformats.org/drawingml/2006/main">
              <a:ext uri="{FF2B5EF4-FFF2-40B4-BE49-F238E27FC236}">
                <a16:creationId xmlns:a16="http://schemas.microsoft.com/office/drawing/2014/main" id="{C12EFDEB-A56E-4A4F-A346-F31E4683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uture-body-1">
            <a:extLst xmlns:a="http://schemas.openxmlformats.org/drawingml/2006/main">
              <a:ext uri="{FF2B5EF4-FFF2-40B4-BE49-F238E27FC236}">
                <a16:creationId xmlns:a16="http://schemas.microsoft.com/office/drawing/2014/main" id="{3897FBD3-D2F5-47FF-B842-015D16C3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</a:defRPr>
            </a:pPr>
            <a:r>
              <a:rPr sz="1575" b="0">
                <a:solidFill>
                  <a:srgbClr val="666B73"/>
                </a:solidFill>
              </a:rPr>
              <a:t>声・時間・聴取状況も含め、</a:t>
            </a:r>
          </a:p>
          <a:p xmlns:a="http://schemas.openxmlformats.org/drawingml/2006/main">
            <a:pPr algn="l">
              <a:defRPr sz="1575" b="0">
                <a:solidFill>
                  <a:srgbClr val="666B73"/>
                </a:solidFill>
              </a:defRPr>
            </a:pPr>
            <a:r>
              <a:rPr sz="1575" b="0">
                <a:solidFill>
                  <a:srgbClr val="666B73"/>
                </a:solidFill>
              </a:rPr>
              <a:t>その瞬間の気持ちを理解する</a:t>
            </a:r>
          </a:p>
        </p:txBody>
      </p:sp>
      <p:sp>
        <p:nvSpPr>
          <p:cNvPr id="10" name="future-head-2">
            <a:extLst xmlns:a="http://schemas.openxmlformats.org/drawingml/2006/main">
              <a:ext uri="{FF2B5EF4-FFF2-40B4-BE49-F238E27FC236}">
                <a16:creationId xmlns:a16="http://schemas.microsoft.com/office/drawing/2014/main" id="{09D5A415-1AB5-477B-BC3F-5A024CE9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一緒につくる</a:t>
            </a:r>
          </a:p>
        </p:txBody>
      </p:sp>
      <p:sp>
        <p:nvSpPr>
          <p:cNvPr id="11" name="future-rule-2">
            <a:extLst xmlns:a="http://schemas.openxmlformats.org/drawingml/2006/main">
              <a:ext uri="{FF2B5EF4-FFF2-40B4-BE49-F238E27FC236}">
                <a16:creationId xmlns:a16="http://schemas.microsoft.com/office/drawing/2014/main" id="{492685A9-7728-429A-8904-EC2BB9DD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uture-body-2">
            <a:extLst xmlns:a="http://schemas.openxmlformats.org/drawingml/2006/main">
              <a:ext uri="{FF2B5EF4-FFF2-40B4-BE49-F238E27FC236}">
                <a16:creationId xmlns:a16="http://schemas.microsoft.com/office/drawing/2014/main" id="{F5CC5769-730B-4070-90B5-4DBC0925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14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3"/>
                </a:solidFill>
              </a:defRPr>
            </a:pPr>
            <a:r>
              <a:rPr sz="1575" b="0">
                <a:solidFill>
                  <a:srgbClr val="666B73"/>
                </a:solidFill>
              </a:rPr>
              <a:t>リスナー同士のお便りや番組を、</a:t>
            </a:r>
          </a:p>
          <a:p xmlns:a="http://schemas.openxmlformats.org/drawingml/2006/main">
            <a:pPr algn="l">
              <a:defRPr sz="1575" b="0">
                <a:solidFill>
                  <a:srgbClr val="666B73"/>
                </a:solidFill>
              </a:defRPr>
            </a:pPr>
            <a:r>
              <a:rPr sz="1575" b="0">
                <a:solidFill>
                  <a:srgbClr val="666B73"/>
                </a:solidFill>
              </a:rPr>
              <a:t>AI DJが編成する</a:t>
            </a:r>
          </a:p>
        </p:txBody>
      </p:sp>
      <p:sp>
        <p:nvSpPr>
          <p:cNvPr id="13" name="close">
            <a:extLst xmlns:a="http://schemas.openxmlformats.org/drawingml/2006/main">
              <a:ext uri="{FF2B5EF4-FFF2-40B4-BE49-F238E27FC236}">
                <a16:creationId xmlns:a16="http://schemas.microsoft.com/office/drawing/2014/main" id="{5149A3D9-6952-41EC-968B-9D0E540B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音楽を選ぶAIから、</a:t>
            </a:r>
          </a:p>
          <a:p xmlns:a="http://schemas.openxmlformats.org/drawingml/2006/main">
            <a:pPr algn="l">
              <a:defRPr sz="3150" b="1">
                <a:solidFill>
                  <a:srgbClr val="0A0A0A"/>
                </a:solidFill>
              </a:defRPr>
            </a:pPr>
            <a:r>
              <a:rPr sz="3150" b="1">
                <a:solidFill>
                  <a:srgbClr val="0A0A0A"/>
                </a:solidFill>
              </a:rPr>
              <a:t>気持ちに寄り添うメディアへ。</a:t>
            </a:r>
          </a:p>
        </p:txBody>
      </p:sp>
    </p:spTree>
    <p:extLst>
      <p:ext uri="{BB962C8B-B14F-4D97-AF65-F5344CB8AC3E}">
        <p14:creationId xmlns:p14="http://schemas.microsoft.com/office/powerpoint/2010/main" val="1109911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2026-08-08T05:56:58.1310000Z</dcterms:created>
  <dcterms:modified xsi:type="dcterms:W3CDTF">2026-08-08T05:56:58.1310000Z</dcterms:modified>
</coreProperties>
</file>